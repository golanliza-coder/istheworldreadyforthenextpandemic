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88825"/>
  <p:notesSz cx="6858000" cy="12188825"/>
  <p:embeddedFontLst>
    <p:embeddedFont>
      <p:font typeface="Assistant SemiBold"/>
      <p:regular r:id="rId15"/>
      <p:bold r:id="rId16"/>
    </p:embeddedFont>
    <p:embeddedFont>
      <p:font typeface="Assistant"/>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AssistantSemiBold-regular.fntdata"/><Relationship Id="rId14" Type="http://schemas.openxmlformats.org/officeDocument/2006/relationships/slide" Target="slides/slide10.xml"/><Relationship Id="rId17" Type="http://schemas.openxmlformats.org/officeDocument/2006/relationships/font" Target="fonts/Assistant-regular.fntdata"/><Relationship Id="rId16" Type="http://schemas.openxmlformats.org/officeDocument/2006/relationships/font" Target="fonts/AssistantSemiBold-bold.fntdata"/><Relationship Id="rId18" Type="http://schemas.openxmlformats.org/officeDocument/2006/relationships/font" Target="fonts/Assistan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150"/>
            <a:ext cx="4572225" cy="457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89675"/>
            <a:ext cx="5486400" cy="54849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txBox="1"/>
          <p:nvPr>
            <p:ph idx="1" type="body"/>
          </p:nvPr>
        </p:nvSpPr>
        <p:spPr>
          <a:xfrm>
            <a:off x="685800" y="5789692"/>
            <a:ext cx="5486400" cy="5484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 name="Google Shape;13;p1:notes"/>
          <p:cNvSpPr/>
          <p:nvPr>
            <p:ph idx="2" type="sldImg"/>
          </p:nvPr>
        </p:nvSpPr>
        <p:spPr>
          <a:xfrm>
            <a:off x="-630238" y="914400"/>
            <a:ext cx="8120063" cy="45704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txBox="1"/>
          <p:nvPr>
            <p:ph idx="1" type="body"/>
          </p:nvPr>
        </p:nvSpPr>
        <p:spPr>
          <a:xfrm>
            <a:off x="685800" y="5789675"/>
            <a:ext cx="5486400" cy="5484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notes"/>
          <p:cNvSpPr/>
          <p:nvPr>
            <p:ph idx="2" type="sldImg"/>
          </p:nvPr>
        </p:nvSpPr>
        <p:spPr>
          <a:xfrm>
            <a:off x="1143225" y="914150"/>
            <a:ext cx="4572225" cy="4570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5789675"/>
            <a:ext cx="5486400" cy="5484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notes"/>
          <p:cNvSpPr/>
          <p:nvPr>
            <p:ph idx="2" type="sldImg"/>
          </p:nvPr>
        </p:nvSpPr>
        <p:spPr>
          <a:xfrm>
            <a:off x="1143225" y="914150"/>
            <a:ext cx="4572225" cy="4570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5789692"/>
            <a:ext cx="5486400" cy="5484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4:notes"/>
          <p:cNvSpPr/>
          <p:nvPr>
            <p:ph idx="2" type="sldImg"/>
          </p:nvPr>
        </p:nvSpPr>
        <p:spPr>
          <a:xfrm>
            <a:off x="-630238" y="914400"/>
            <a:ext cx="8120063" cy="45704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5789692"/>
            <a:ext cx="5486400" cy="5484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630238" y="914400"/>
            <a:ext cx="8120063" cy="45704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1165225" y="0"/>
            <a:ext cx="533082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04" name="Google Shape;20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1165225" y="0"/>
            <a:ext cx="533082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18" name="Google Shape;21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1165225" y="0"/>
            <a:ext cx="533082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30" name="Google Shape;23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5641c2bd0_0_0:notes"/>
          <p:cNvSpPr txBox="1"/>
          <p:nvPr>
            <p:ph idx="1" type="body"/>
          </p:nvPr>
        </p:nvSpPr>
        <p:spPr>
          <a:xfrm>
            <a:off x="685800" y="5789692"/>
            <a:ext cx="5486400" cy="54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f5641c2bd0_0_0:notes"/>
          <p:cNvSpPr/>
          <p:nvPr>
            <p:ph idx="2" type="sldImg"/>
          </p:nvPr>
        </p:nvSpPr>
        <p:spPr>
          <a:xfrm>
            <a:off x="1143820" y="914162"/>
            <a:ext cx="4571100" cy="4570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1165225" y="0"/>
            <a:ext cx="533082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74" name="Google Shape;27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
        <p:nvSpPr>
          <p:cNvPr id="7" name="Google Shape;7;p2"/>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9.png"/><Relationship Id="rId13" Type="http://schemas.openxmlformats.org/officeDocument/2006/relationships/image" Target="../media/image5.png"/><Relationship Id="rId12"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9.png"/><Relationship Id="rId15" Type="http://schemas.openxmlformats.org/officeDocument/2006/relationships/image" Target="../media/image8.png"/><Relationship Id="rId14" Type="http://schemas.openxmlformats.org/officeDocument/2006/relationships/image" Target="../media/image7.png"/><Relationship Id="rId17" Type="http://schemas.openxmlformats.org/officeDocument/2006/relationships/image" Target="../media/image3.png"/><Relationship Id="rId16" Type="http://schemas.openxmlformats.org/officeDocument/2006/relationships/image" Target="../media/image11.png"/><Relationship Id="rId5" Type="http://schemas.openxmlformats.org/officeDocument/2006/relationships/image" Target="../media/image1.png"/><Relationship Id="rId19" Type="http://schemas.openxmlformats.org/officeDocument/2006/relationships/image" Target="../media/image26.png"/><Relationship Id="rId6" Type="http://schemas.openxmlformats.org/officeDocument/2006/relationships/image" Target="../media/image16.png"/><Relationship Id="rId18"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20" Type="http://schemas.openxmlformats.org/officeDocument/2006/relationships/image" Target="../media/image37.png"/><Relationship Id="rId22" Type="http://schemas.openxmlformats.org/officeDocument/2006/relationships/image" Target="../media/image34.png"/><Relationship Id="rId21" Type="http://schemas.openxmlformats.org/officeDocument/2006/relationships/image" Target="../media/image35.png"/><Relationship Id="rId24" Type="http://schemas.openxmlformats.org/officeDocument/2006/relationships/image" Target="../media/image42.png"/><Relationship Id="rId23"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1.png"/><Relationship Id="rId9" Type="http://schemas.openxmlformats.org/officeDocument/2006/relationships/image" Target="../media/image24.png"/><Relationship Id="rId26" Type="http://schemas.openxmlformats.org/officeDocument/2006/relationships/image" Target="../media/image43.png"/><Relationship Id="rId25" Type="http://schemas.openxmlformats.org/officeDocument/2006/relationships/image" Target="../media/image36.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27.png"/><Relationship Id="rId11" Type="http://schemas.openxmlformats.org/officeDocument/2006/relationships/image" Target="../media/image52.png"/><Relationship Id="rId10" Type="http://schemas.openxmlformats.org/officeDocument/2006/relationships/image" Target="../media/image23.png"/><Relationship Id="rId13" Type="http://schemas.openxmlformats.org/officeDocument/2006/relationships/image" Target="../media/image20.png"/><Relationship Id="rId12" Type="http://schemas.openxmlformats.org/officeDocument/2006/relationships/image" Target="../media/image28.png"/><Relationship Id="rId15" Type="http://schemas.openxmlformats.org/officeDocument/2006/relationships/image" Target="../media/image33.png"/><Relationship Id="rId14" Type="http://schemas.openxmlformats.org/officeDocument/2006/relationships/image" Target="../media/image25.png"/><Relationship Id="rId17" Type="http://schemas.openxmlformats.org/officeDocument/2006/relationships/image" Target="../media/image46.png"/><Relationship Id="rId16" Type="http://schemas.openxmlformats.org/officeDocument/2006/relationships/image" Target="../media/image31.png"/><Relationship Id="rId19" Type="http://schemas.openxmlformats.org/officeDocument/2006/relationships/image" Target="../media/image32.png"/><Relationship Id="rId18"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44.png"/><Relationship Id="rId9" Type="http://schemas.openxmlformats.org/officeDocument/2006/relationships/image" Target="../media/image45.png"/><Relationship Id="rId5" Type="http://schemas.openxmlformats.org/officeDocument/2006/relationships/image" Target="../media/image55.png"/><Relationship Id="rId6" Type="http://schemas.openxmlformats.org/officeDocument/2006/relationships/image" Target="../media/image41.png"/><Relationship Id="rId7" Type="http://schemas.openxmlformats.org/officeDocument/2006/relationships/image" Target="../media/image40.png"/><Relationship Id="rId8" Type="http://schemas.openxmlformats.org/officeDocument/2006/relationships/image" Target="../media/image47.png"/><Relationship Id="rId11" Type="http://schemas.openxmlformats.org/officeDocument/2006/relationships/image" Target="../media/image51.png"/><Relationship Id="rId10" Type="http://schemas.openxmlformats.org/officeDocument/2006/relationships/image" Target="../media/image49.png"/><Relationship Id="rId13" Type="http://schemas.openxmlformats.org/officeDocument/2006/relationships/image" Target="../media/image48.png"/><Relationship Id="rId12" Type="http://schemas.openxmlformats.org/officeDocument/2006/relationships/image" Target="../media/image7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4.png"/><Relationship Id="rId9" Type="http://schemas.openxmlformats.org/officeDocument/2006/relationships/image" Target="../media/image62.png"/><Relationship Id="rId5" Type="http://schemas.openxmlformats.org/officeDocument/2006/relationships/image" Target="../media/image50.png"/><Relationship Id="rId6" Type="http://schemas.openxmlformats.org/officeDocument/2006/relationships/image" Target="../media/image75.png"/><Relationship Id="rId7" Type="http://schemas.openxmlformats.org/officeDocument/2006/relationships/image" Target="../media/image53.png"/><Relationship Id="rId8" Type="http://schemas.openxmlformats.org/officeDocument/2006/relationships/image" Target="../media/image57.png"/><Relationship Id="rId11" Type="http://schemas.openxmlformats.org/officeDocument/2006/relationships/image" Target="../media/image59.png"/><Relationship Id="rId10" Type="http://schemas.openxmlformats.org/officeDocument/2006/relationships/image" Target="../media/image56.png"/><Relationship Id="rId13" Type="http://schemas.openxmlformats.org/officeDocument/2006/relationships/image" Target="../media/image60.png"/><Relationship Id="rId12" Type="http://schemas.openxmlformats.org/officeDocument/2006/relationships/image" Target="../media/image5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4.png"/><Relationship Id="rId4" Type="http://schemas.openxmlformats.org/officeDocument/2006/relationships/image" Target="../media/image65.png"/><Relationship Id="rId9" Type="http://schemas.openxmlformats.org/officeDocument/2006/relationships/image" Target="../media/image71.png"/><Relationship Id="rId5" Type="http://schemas.openxmlformats.org/officeDocument/2006/relationships/image" Target="../media/image61.png"/><Relationship Id="rId6" Type="http://schemas.openxmlformats.org/officeDocument/2006/relationships/image" Target="../media/image69.png"/><Relationship Id="rId7" Type="http://schemas.openxmlformats.org/officeDocument/2006/relationships/image" Target="../media/image76.png"/><Relationship Id="rId8" Type="http://schemas.openxmlformats.org/officeDocument/2006/relationships/image" Target="../media/image73.png"/><Relationship Id="rId11" Type="http://schemas.openxmlformats.org/officeDocument/2006/relationships/image" Target="../media/image67.png"/><Relationship Id="rId10" Type="http://schemas.openxmlformats.org/officeDocument/2006/relationships/image" Target="../media/image66.png"/><Relationship Id="rId13" Type="http://schemas.openxmlformats.org/officeDocument/2006/relationships/image" Target="../media/image78.png"/><Relationship Id="rId12" Type="http://schemas.openxmlformats.org/officeDocument/2006/relationships/image" Target="../media/image70.png"/><Relationship Id="rId15" Type="http://schemas.openxmlformats.org/officeDocument/2006/relationships/image" Target="../media/image72.png"/><Relationship Id="rId14" Type="http://schemas.openxmlformats.org/officeDocument/2006/relationships/image" Target="../media/image68.png"/><Relationship Id="rId16" Type="http://schemas.openxmlformats.org/officeDocument/2006/relationships/image" Target="../media/image7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pic>
        <p:nvPicPr>
          <p:cNvPr descr="image.png" id="15" name="Google Shape;15;p4"/>
          <p:cNvPicPr preferRelativeResize="0"/>
          <p:nvPr/>
        </p:nvPicPr>
        <p:blipFill rotWithShape="1">
          <a:blip r:embed="rId3">
            <a:alphaModFix/>
          </a:blip>
          <a:srcRect b="0" l="0" r="0" t="0"/>
          <a:stretch/>
        </p:blipFill>
        <p:spPr>
          <a:xfrm>
            <a:off x="0" y="0"/>
            <a:ext cx="12188826" cy="6856214"/>
          </a:xfrm>
          <a:prstGeom prst="rect">
            <a:avLst/>
          </a:prstGeom>
          <a:noFill/>
          <a:ln>
            <a:noFill/>
          </a:ln>
        </p:spPr>
      </p:pic>
      <p:pic>
        <p:nvPicPr>
          <p:cNvPr descr="image.png" id="16" name="Google Shape;16;p4"/>
          <p:cNvPicPr preferRelativeResize="0"/>
          <p:nvPr/>
        </p:nvPicPr>
        <p:blipFill rotWithShape="1">
          <a:blip r:embed="rId4">
            <a:alphaModFix/>
          </a:blip>
          <a:srcRect b="0" l="0" r="0" t="0"/>
          <a:stretch/>
        </p:blipFill>
        <p:spPr>
          <a:xfrm>
            <a:off x="7189502" y="4772712"/>
            <a:ext cx="3866143" cy="761802"/>
          </a:xfrm>
          <a:prstGeom prst="rect">
            <a:avLst/>
          </a:prstGeom>
          <a:noFill/>
          <a:ln>
            <a:noFill/>
          </a:ln>
        </p:spPr>
      </p:pic>
      <p:sp>
        <p:nvSpPr>
          <p:cNvPr id="17" name="Google Shape;17;p4"/>
          <p:cNvSpPr/>
          <p:nvPr/>
        </p:nvSpPr>
        <p:spPr>
          <a:xfrm>
            <a:off x="0" y="6781800"/>
            <a:ext cx="12188700" cy="7620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4"/>
          <p:cNvSpPr txBox="1"/>
          <p:nvPr/>
        </p:nvSpPr>
        <p:spPr>
          <a:xfrm>
            <a:off x="10531907" y="381000"/>
            <a:ext cx="10857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39C12"/>
                </a:solidFill>
                <a:latin typeface="Assistant"/>
                <a:ea typeface="Assistant"/>
                <a:cs typeface="Assistant"/>
                <a:sym typeface="Assistant"/>
              </a:rPr>
              <a:t>מבוא לפרויקט</a:t>
            </a:r>
            <a:endParaRPr b="0" i="0" sz="1400" u="none" cap="none" strike="noStrike">
              <a:solidFill>
                <a:srgbClr val="000000"/>
              </a:solidFill>
              <a:latin typeface="Arial"/>
              <a:ea typeface="Arial"/>
              <a:cs typeface="Arial"/>
              <a:sym typeface="Arial"/>
            </a:endParaRPr>
          </a:p>
        </p:txBody>
      </p:sp>
      <p:sp>
        <p:nvSpPr>
          <p:cNvPr id="19" name="Google Shape;19;p4"/>
          <p:cNvSpPr txBox="1"/>
          <p:nvPr/>
        </p:nvSpPr>
        <p:spPr>
          <a:xfrm>
            <a:off x="571351" y="390525"/>
            <a:ext cx="7200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D2FF"/>
                </a:solidFill>
                <a:latin typeface="Arial"/>
                <a:ea typeface="Arial"/>
                <a:cs typeface="Arial"/>
                <a:sym typeface="Arial"/>
              </a:rPr>
              <a:t>01 / 10</a:t>
            </a:r>
            <a:endParaRPr b="0" i="0" sz="1400" u="none" cap="none" strike="noStrike">
              <a:solidFill>
                <a:srgbClr val="000000"/>
              </a:solidFill>
              <a:latin typeface="Arial"/>
              <a:ea typeface="Arial"/>
              <a:cs typeface="Arial"/>
              <a:sym typeface="Arial"/>
            </a:endParaRPr>
          </a:p>
        </p:txBody>
      </p:sp>
      <p:sp>
        <p:nvSpPr>
          <p:cNvPr id="20" name="Google Shape;20;p4"/>
          <p:cNvSpPr txBox="1"/>
          <p:nvPr/>
        </p:nvSpPr>
        <p:spPr>
          <a:xfrm>
            <a:off x="5323088" y="6229350"/>
            <a:ext cx="15429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FFFFFF"/>
                </a:solidFill>
                <a:latin typeface="Assistant"/>
                <a:ea typeface="Assistant"/>
                <a:cs typeface="Assistant"/>
                <a:sym typeface="Assistant"/>
              </a:rPr>
              <a:t>מערכת חיזוי וניתוח נתוני עתק</a:t>
            </a:r>
            <a:endParaRPr b="0" i="0" sz="1400" u="none" cap="none" strike="noStrike">
              <a:solidFill>
                <a:srgbClr val="000000"/>
              </a:solidFill>
              <a:latin typeface="Arial"/>
              <a:ea typeface="Arial"/>
              <a:cs typeface="Arial"/>
              <a:sym typeface="Arial"/>
            </a:endParaRPr>
          </a:p>
        </p:txBody>
      </p:sp>
      <p:sp>
        <p:nvSpPr>
          <p:cNvPr id="21" name="Google Shape;21;p4"/>
          <p:cNvSpPr txBox="1"/>
          <p:nvPr/>
        </p:nvSpPr>
        <p:spPr>
          <a:xfrm>
            <a:off x="2380630" y="1944588"/>
            <a:ext cx="8674800" cy="307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1" i="0" lang="en-US" sz="2000" u="none" cap="none" strike="noStrike">
                <a:solidFill>
                  <a:srgbClr val="F39C12"/>
                </a:solidFill>
                <a:latin typeface="Assistant"/>
                <a:ea typeface="Assistant"/>
                <a:cs typeface="Assistant"/>
                <a:sym typeface="Assistant"/>
              </a:rPr>
              <a:t>מבוא לפרויקט</a:t>
            </a:r>
            <a:endParaRPr b="0" i="0" sz="2000" u="none" cap="none" strike="noStrike">
              <a:solidFill>
                <a:srgbClr val="000000"/>
              </a:solidFill>
              <a:latin typeface="Arial"/>
              <a:ea typeface="Arial"/>
              <a:cs typeface="Arial"/>
              <a:sym typeface="Arial"/>
            </a:endParaRPr>
          </a:p>
        </p:txBody>
      </p:sp>
      <p:sp>
        <p:nvSpPr>
          <p:cNvPr id="22" name="Google Shape;22;p4"/>
          <p:cNvSpPr txBox="1"/>
          <p:nvPr/>
        </p:nvSpPr>
        <p:spPr>
          <a:xfrm>
            <a:off x="516000" y="3148450"/>
            <a:ext cx="10539300" cy="1323600"/>
          </a:xfrm>
          <a:prstGeom prst="rect">
            <a:avLst/>
          </a:prstGeom>
          <a:noFill/>
          <a:ln>
            <a:noFill/>
          </a:ln>
        </p:spPr>
        <p:txBody>
          <a:bodyPr anchorCtr="0" anchor="t" bIns="0" lIns="0" spcFirstLastPara="1" rIns="0" wrap="square" tIns="0">
            <a:spAutoFit/>
          </a:bodyPr>
          <a:lstStyle/>
          <a:p>
            <a:pPr indent="0" lvl="0" marL="0" marR="0" rtl="0" algn="r">
              <a:lnSpc>
                <a:spcPct val="164952"/>
              </a:lnSpc>
              <a:spcBef>
                <a:spcPts val="0"/>
              </a:spcBef>
              <a:spcAft>
                <a:spcPts val="0"/>
              </a:spcAft>
              <a:buClr>
                <a:srgbClr val="000000"/>
              </a:buClr>
              <a:buSzPts val="1575"/>
              <a:buFont typeface="Arial"/>
              <a:buNone/>
            </a:pPr>
            <a:r>
              <a:rPr b="0" i="0" lang="en-US" sz="2000" u="none" cap="none" strike="noStrike">
                <a:solidFill>
                  <a:srgbClr val="CBD5E1"/>
                </a:solidFill>
                <a:latin typeface="Assistant"/>
                <a:ea typeface="Assistant"/>
                <a:cs typeface="Assistant"/>
                <a:sym typeface="Assistant"/>
              </a:rPr>
              <a:t>הפרויקט בוחן את מוכנותן של מדינות העולם, באמצעות שילוב של משתני בריאות גלובליים, למגיפה העולמית הבאה</a:t>
            </a:r>
            <a:br>
              <a:rPr b="0" i="0" lang="en-US" sz="2000" u="none" cap="none" strike="noStrike">
                <a:solidFill>
                  <a:srgbClr val="CBD5E1"/>
                </a:solidFill>
                <a:latin typeface="Assistant"/>
                <a:ea typeface="Assistant"/>
                <a:cs typeface="Assistant"/>
                <a:sym typeface="Assistant"/>
              </a:rPr>
            </a:br>
            <a:r>
              <a:rPr b="0" i="0" lang="en-US" sz="2000" u="none" cap="none" strike="noStrike">
                <a:solidFill>
                  <a:srgbClr val="CBD5E1"/>
                </a:solidFill>
                <a:latin typeface="Assistant"/>
                <a:ea typeface="Assistant"/>
                <a:cs typeface="Assistant"/>
                <a:sym typeface="Assistant"/>
              </a:rPr>
              <a:t>והשוואתו למשתנה בינארי של 1 [מוכנות] או 0 [אי מוכנות] של מדינה להתמודד עם מגיפה עולמית</a:t>
            </a:r>
            <a:br>
              <a:rPr b="0" i="0" lang="en-US" sz="2000" u="none" cap="none" strike="noStrike">
                <a:solidFill>
                  <a:srgbClr val="CBD5E1"/>
                </a:solidFill>
                <a:latin typeface="Assistant"/>
                <a:ea typeface="Assistant"/>
                <a:cs typeface="Assistant"/>
                <a:sym typeface="Assistant"/>
              </a:rPr>
            </a:br>
            <a:endParaRPr b="0" i="0" sz="2000" u="none" cap="none" strike="noStrike">
              <a:solidFill>
                <a:srgbClr val="000000"/>
              </a:solidFill>
              <a:latin typeface="Arial"/>
              <a:ea typeface="Arial"/>
              <a:cs typeface="Arial"/>
              <a:sym typeface="Arial"/>
            </a:endParaRPr>
          </a:p>
        </p:txBody>
      </p:sp>
      <p:sp>
        <p:nvSpPr>
          <p:cNvPr id="23" name="Google Shape;23;p4"/>
          <p:cNvSpPr txBox="1"/>
          <p:nvPr/>
        </p:nvSpPr>
        <p:spPr>
          <a:xfrm>
            <a:off x="7441815" y="4947787"/>
            <a:ext cx="3361500" cy="307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2000" u="none" cap="none" strike="noStrike">
                <a:solidFill>
                  <a:srgbClr val="F39C12"/>
                </a:solidFill>
                <a:latin typeface="Assistant"/>
                <a:ea typeface="Assistant"/>
                <a:cs typeface="Assistant"/>
                <a:sym typeface="Assistant"/>
              </a:rPr>
              <a:t>מגישות הפרויקט</a:t>
            </a:r>
            <a:r>
              <a:rPr b="1" i="0" lang="en-US" sz="105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4333309" y="5269025"/>
            <a:ext cx="64701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350"/>
              <a:buFont typeface="Arial"/>
              <a:buNone/>
            </a:pPr>
            <a:r>
              <a:rPr b="0" i="0" lang="en-US" sz="1800" u="none" cap="none" strike="noStrike">
                <a:solidFill>
                  <a:srgbClr val="FFFFFF"/>
                </a:solidFill>
                <a:latin typeface="Assistant SemiBold"/>
                <a:ea typeface="Assistant SemiBold"/>
                <a:cs typeface="Assistant SemiBold"/>
                <a:sym typeface="Assistant SemiBold"/>
              </a:rPr>
              <a:t>ליזה גולן, רווית בר-לב, הודיה צינוביץ וחגית ניב-דרורי</a:t>
            </a:r>
            <a:endParaRPr b="0" i="0" sz="1800" u="none" cap="none" strike="noStrike">
              <a:solidFill>
                <a:srgbClr val="000000"/>
              </a:solidFill>
              <a:latin typeface="Arial"/>
              <a:ea typeface="Arial"/>
              <a:cs typeface="Arial"/>
              <a:sym typeface="Arial"/>
            </a:endParaRPr>
          </a:p>
        </p:txBody>
      </p:sp>
      <p:sp>
        <p:nvSpPr>
          <p:cNvPr id="25" name="Google Shape;25;p4"/>
          <p:cNvSpPr txBox="1"/>
          <p:nvPr/>
        </p:nvSpPr>
        <p:spPr>
          <a:xfrm>
            <a:off x="1946879" y="2268438"/>
            <a:ext cx="9108600" cy="6465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4200"/>
              <a:buFont typeface="Arial"/>
              <a:buNone/>
            </a:pPr>
            <a:r>
              <a:rPr b="1" i="0" lang="en-US" sz="4200" u="none" cap="none" strike="noStrike">
                <a:solidFill>
                  <a:srgbClr val="FFFFFF"/>
                </a:solidFill>
                <a:latin typeface="Assistant"/>
                <a:ea typeface="Assistant"/>
                <a:cs typeface="Assistant"/>
                <a:sym typeface="Assistant"/>
              </a:rPr>
              <a:t>האם העולם מוכן למגיפה הבאה?</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image.png" id="30" name="Google Shape;30;p5"/>
          <p:cNvPicPr preferRelativeResize="0"/>
          <p:nvPr/>
        </p:nvPicPr>
        <p:blipFill rotWithShape="1">
          <a:blip r:embed="rId3">
            <a:alphaModFix/>
          </a:blip>
          <a:srcRect b="0" l="0" r="0" t="0"/>
          <a:stretch/>
        </p:blipFill>
        <p:spPr>
          <a:xfrm>
            <a:off x="-1" y="893"/>
            <a:ext cx="12188825" cy="6856214"/>
          </a:xfrm>
          <a:prstGeom prst="rect">
            <a:avLst/>
          </a:prstGeom>
          <a:noFill/>
          <a:ln>
            <a:noFill/>
          </a:ln>
        </p:spPr>
      </p:pic>
      <p:pic>
        <p:nvPicPr>
          <p:cNvPr descr="image.png" id="31" name="Google Shape;31;p5"/>
          <p:cNvPicPr preferRelativeResize="0"/>
          <p:nvPr/>
        </p:nvPicPr>
        <p:blipFill rotWithShape="1">
          <a:blip r:embed="rId4">
            <a:alphaModFix/>
          </a:blip>
          <a:srcRect b="0" l="0" r="0" t="0"/>
          <a:stretch/>
        </p:blipFill>
        <p:spPr>
          <a:xfrm>
            <a:off x="6634814" y="1567496"/>
            <a:ext cx="4982658" cy="2494602"/>
          </a:xfrm>
          <a:prstGeom prst="rect">
            <a:avLst/>
          </a:prstGeom>
          <a:noFill/>
          <a:ln>
            <a:noFill/>
          </a:ln>
        </p:spPr>
      </p:pic>
      <p:pic>
        <p:nvPicPr>
          <p:cNvPr descr="image.png" id="32" name="Google Shape;32;p5"/>
          <p:cNvPicPr preferRelativeResize="0"/>
          <p:nvPr/>
        </p:nvPicPr>
        <p:blipFill rotWithShape="1">
          <a:blip r:embed="rId5">
            <a:alphaModFix/>
          </a:blip>
          <a:srcRect b="0" l="0" r="0" t="0"/>
          <a:stretch/>
        </p:blipFill>
        <p:spPr>
          <a:xfrm>
            <a:off x="6634814" y="4290639"/>
            <a:ext cx="4982658" cy="1542648"/>
          </a:xfrm>
          <a:prstGeom prst="rect">
            <a:avLst/>
          </a:prstGeom>
          <a:noFill/>
          <a:ln>
            <a:noFill/>
          </a:ln>
        </p:spPr>
      </p:pic>
      <p:pic>
        <p:nvPicPr>
          <p:cNvPr descr="image.png" id="33" name="Google Shape;33;p5"/>
          <p:cNvPicPr preferRelativeResize="0"/>
          <p:nvPr/>
        </p:nvPicPr>
        <p:blipFill rotWithShape="1">
          <a:blip r:embed="rId6">
            <a:alphaModFix/>
          </a:blip>
          <a:srcRect b="0" l="0" r="0" t="0"/>
          <a:stretch/>
        </p:blipFill>
        <p:spPr>
          <a:xfrm>
            <a:off x="3550858" y="1557824"/>
            <a:ext cx="2750668" cy="1942594"/>
          </a:xfrm>
          <a:prstGeom prst="rect">
            <a:avLst/>
          </a:prstGeom>
          <a:noFill/>
          <a:ln>
            <a:noFill/>
          </a:ln>
        </p:spPr>
      </p:pic>
      <p:pic>
        <p:nvPicPr>
          <p:cNvPr descr="image.png" id="34" name="Google Shape;34;p5"/>
          <p:cNvPicPr preferRelativeResize="0"/>
          <p:nvPr/>
        </p:nvPicPr>
        <p:blipFill rotWithShape="1">
          <a:blip r:embed="rId7">
            <a:alphaModFix/>
          </a:blip>
          <a:srcRect b="0" l="0" r="0" t="0"/>
          <a:stretch/>
        </p:blipFill>
        <p:spPr>
          <a:xfrm>
            <a:off x="571499" y="1557824"/>
            <a:ext cx="2750817" cy="1942594"/>
          </a:xfrm>
          <a:prstGeom prst="rect">
            <a:avLst/>
          </a:prstGeom>
          <a:noFill/>
          <a:ln>
            <a:noFill/>
          </a:ln>
        </p:spPr>
      </p:pic>
      <p:pic>
        <p:nvPicPr>
          <p:cNvPr descr="image.png" id="35" name="Google Shape;35;p5"/>
          <p:cNvPicPr preferRelativeResize="0"/>
          <p:nvPr/>
        </p:nvPicPr>
        <p:blipFill rotWithShape="1">
          <a:blip r:embed="rId8">
            <a:alphaModFix/>
          </a:blip>
          <a:srcRect b="0" l="0" r="0" t="0"/>
          <a:stretch/>
        </p:blipFill>
        <p:spPr>
          <a:xfrm>
            <a:off x="3550858" y="3728959"/>
            <a:ext cx="2750668" cy="2113999"/>
          </a:xfrm>
          <a:prstGeom prst="rect">
            <a:avLst/>
          </a:prstGeom>
          <a:noFill/>
          <a:ln>
            <a:noFill/>
          </a:ln>
        </p:spPr>
      </p:pic>
      <p:pic>
        <p:nvPicPr>
          <p:cNvPr descr="image.png" id="36" name="Google Shape;36;p5"/>
          <p:cNvPicPr preferRelativeResize="0"/>
          <p:nvPr/>
        </p:nvPicPr>
        <p:blipFill rotWithShape="1">
          <a:blip r:embed="rId9">
            <a:alphaModFix/>
          </a:blip>
          <a:srcRect b="0" l="0" r="0" t="0"/>
          <a:stretch/>
        </p:blipFill>
        <p:spPr>
          <a:xfrm>
            <a:off x="571499" y="3728959"/>
            <a:ext cx="2750817" cy="2113999"/>
          </a:xfrm>
          <a:prstGeom prst="rect">
            <a:avLst/>
          </a:prstGeom>
          <a:noFill/>
          <a:ln>
            <a:noFill/>
          </a:ln>
        </p:spPr>
      </p:pic>
      <p:sp>
        <p:nvSpPr>
          <p:cNvPr id="37" name="Google Shape;37;p5"/>
          <p:cNvSpPr/>
          <p:nvPr/>
        </p:nvSpPr>
        <p:spPr>
          <a:xfrm>
            <a:off x="-1" y="6780927"/>
            <a:ext cx="12188825" cy="7618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 name="Google Shape;38;p5"/>
          <p:cNvSpPr txBox="1"/>
          <p:nvPr/>
        </p:nvSpPr>
        <p:spPr>
          <a:xfrm>
            <a:off x="19044" y="648425"/>
            <a:ext cx="11598429" cy="438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849" u="none" cap="none" strike="noStrike">
                <a:solidFill>
                  <a:srgbClr val="FFFFFF"/>
                </a:solidFill>
                <a:latin typeface="Assistant"/>
                <a:ea typeface="Assistant"/>
                <a:cs typeface="Assistant"/>
                <a:sym typeface="Assistant"/>
              </a:rPr>
              <a:t>הבעיה העסקית והצורך</a:t>
            </a:r>
            <a:endParaRPr/>
          </a:p>
        </p:txBody>
      </p:sp>
      <p:sp>
        <p:nvSpPr>
          <p:cNvPr id="39" name="Google Shape;39;p5"/>
          <p:cNvSpPr txBox="1"/>
          <p:nvPr/>
        </p:nvSpPr>
        <p:spPr>
          <a:xfrm>
            <a:off x="10731880" y="381794"/>
            <a:ext cx="885594" cy="2076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F39C12"/>
                </a:solidFill>
                <a:latin typeface="Assistant"/>
                <a:ea typeface="Assistant"/>
                <a:cs typeface="Assistant"/>
                <a:sym typeface="Assistant"/>
              </a:rPr>
              <a:t>רקע וצרכים</a:t>
            </a:r>
            <a:endParaRPr/>
          </a:p>
        </p:txBody>
      </p:sp>
      <p:sp>
        <p:nvSpPr>
          <p:cNvPr id="40" name="Google Shape;40;p5"/>
          <p:cNvSpPr txBox="1"/>
          <p:nvPr/>
        </p:nvSpPr>
        <p:spPr>
          <a:xfrm>
            <a:off x="571351" y="391317"/>
            <a:ext cx="720140" cy="2076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0D2FF"/>
                </a:solidFill>
                <a:latin typeface="Arial"/>
                <a:ea typeface="Arial"/>
                <a:cs typeface="Arial"/>
                <a:sym typeface="Arial"/>
              </a:rPr>
              <a:t>02 / 10</a:t>
            </a:r>
            <a:endParaRPr/>
          </a:p>
        </p:txBody>
      </p:sp>
      <p:sp>
        <p:nvSpPr>
          <p:cNvPr id="41" name="Google Shape;41;p5"/>
          <p:cNvSpPr txBox="1"/>
          <p:nvPr/>
        </p:nvSpPr>
        <p:spPr>
          <a:xfrm>
            <a:off x="4575570" y="6228621"/>
            <a:ext cx="3037684" cy="1615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FFFFFF"/>
                </a:solidFill>
                <a:latin typeface="Assistant"/>
                <a:ea typeface="Assistant"/>
                <a:cs typeface="Assistant"/>
                <a:sym typeface="Assistant"/>
              </a:rPr>
              <a:t>פרויקט גמר - למידת מכונה וניתוח נתוני עתק | רקע וצרכים</a:t>
            </a:r>
            <a:endParaRPr/>
          </a:p>
        </p:txBody>
      </p:sp>
      <p:sp>
        <p:nvSpPr>
          <p:cNvPr id="42" name="Google Shape;42;p5"/>
          <p:cNvSpPr txBox="1"/>
          <p:nvPr/>
        </p:nvSpPr>
        <p:spPr>
          <a:xfrm>
            <a:off x="7224289" y="1819370"/>
            <a:ext cx="4331913" cy="276799"/>
          </a:xfrm>
          <a:prstGeom prst="rect">
            <a:avLst/>
          </a:prstGeom>
          <a:noFill/>
          <a:ln>
            <a:noFill/>
          </a:ln>
        </p:spPr>
        <p:txBody>
          <a:bodyPr anchorCtr="0" anchor="ctr" bIns="0" lIns="0" spcFirstLastPara="1" rIns="0" wrap="square" tIns="0">
            <a:spAutoFit/>
          </a:bodyPr>
          <a:lstStyle/>
          <a:p>
            <a:pPr indent="0" lvl="0" marL="0" marR="0" rtl="1" algn="r">
              <a:lnSpc>
                <a:spcPct val="100000"/>
              </a:lnSpc>
              <a:spcBef>
                <a:spcPts val="0"/>
              </a:spcBef>
              <a:spcAft>
                <a:spcPts val="0"/>
              </a:spcAft>
              <a:buNone/>
            </a:pPr>
            <a:r>
              <a:rPr b="1" i="0" lang="en-US" sz="1799" u="none" cap="none" strike="noStrike">
                <a:solidFill>
                  <a:srgbClr val="F39C12"/>
                </a:solidFill>
                <a:latin typeface="Assistant"/>
                <a:ea typeface="Assistant"/>
                <a:cs typeface="Assistant"/>
                <a:sym typeface="Assistant"/>
              </a:rPr>
              <a:t>        הבעיה והאתגר העסקי</a:t>
            </a:r>
            <a:endParaRPr b="1" i="0" sz="1799" u="none" cap="none" strike="noStrike">
              <a:solidFill>
                <a:srgbClr val="F39C12"/>
              </a:solidFill>
              <a:latin typeface="Assistant"/>
              <a:ea typeface="Assistant"/>
              <a:cs typeface="Assistant"/>
              <a:sym typeface="Assistant"/>
            </a:endParaRPr>
          </a:p>
        </p:txBody>
      </p:sp>
      <p:sp>
        <p:nvSpPr>
          <p:cNvPr id="43" name="Google Shape;43;p5"/>
          <p:cNvSpPr txBox="1"/>
          <p:nvPr/>
        </p:nvSpPr>
        <p:spPr>
          <a:xfrm>
            <a:off x="6872877" y="2224550"/>
            <a:ext cx="4468442" cy="1581908"/>
          </a:xfrm>
          <a:prstGeom prst="rect">
            <a:avLst/>
          </a:prstGeom>
          <a:noFill/>
          <a:ln>
            <a:noFill/>
          </a:ln>
        </p:spPr>
        <p:txBody>
          <a:bodyPr anchorCtr="0" anchor="t" bIns="0" lIns="0" spcFirstLastPara="1" rIns="0" wrap="square" tIns="0">
            <a:spAutoFit/>
          </a:bodyPr>
          <a:lstStyle/>
          <a:p>
            <a:pPr indent="0" lvl="0" marL="0" marR="0" rtl="1" algn="r">
              <a:lnSpc>
                <a:spcPct val="139944"/>
              </a:lnSpc>
              <a:spcBef>
                <a:spcPts val="0"/>
              </a:spcBef>
              <a:spcAft>
                <a:spcPts val="0"/>
              </a:spcAft>
              <a:buNone/>
            </a:pPr>
            <a:r>
              <a:rPr b="0" i="0" lang="en-US" sz="1800" u="none" cap="none" strike="noStrike">
                <a:solidFill>
                  <a:srgbClr val="CBD5E1"/>
                </a:solidFill>
                <a:latin typeface="Assistant"/>
                <a:ea typeface="Assistant"/>
                <a:cs typeface="Assistant"/>
                <a:sym typeface="Assistant"/>
              </a:rPr>
              <a:t>הפרויקט בוחן ומעריך את מוכנותן של מדינות העולם להתפרצות מגיפה עתידית.  </a:t>
            </a:r>
            <a:endParaRPr/>
          </a:p>
          <a:p>
            <a:pPr indent="0" lvl="0" marL="0" marR="0" rtl="1" algn="r">
              <a:lnSpc>
                <a:spcPct val="139944"/>
              </a:lnSpc>
              <a:spcBef>
                <a:spcPts val="0"/>
              </a:spcBef>
              <a:spcAft>
                <a:spcPts val="0"/>
              </a:spcAft>
              <a:buNone/>
            </a:pPr>
            <a:r>
              <a:rPr b="0" i="0" lang="en-US" sz="1800" u="none" cap="none" strike="noStrike">
                <a:solidFill>
                  <a:srgbClr val="CBD5E1"/>
                </a:solidFill>
                <a:latin typeface="Assistant"/>
                <a:ea typeface="Assistant"/>
                <a:cs typeface="Assistant"/>
                <a:sym typeface="Assistant"/>
              </a:rPr>
              <a:t>לשם כך, יישמנו גישה הוליסטית ומבוססת נתונים,  המשלבת באופן שיטתי ומגוון משתני בריאות גלובליים שנבחרו בקפידה ומוצגים להלן:</a:t>
            </a:r>
            <a:endParaRPr b="0" i="0" sz="1800" u="none" cap="none" strike="noStrike">
              <a:solidFill>
                <a:srgbClr val="CBD5E1"/>
              </a:solidFill>
              <a:latin typeface="Assistant"/>
              <a:ea typeface="Assistant"/>
              <a:cs typeface="Assistant"/>
              <a:sym typeface="Assistant"/>
            </a:endParaRPr>
          </a:p>
        </p:txBody>
      </p:sp>
      <p:pic>
        <p:nvPicPr>
          <p:cNvPr descr="image.png" id="44" name="Google Shape;44;p5"/>
          <p:cNvPicPr preferRelativeResize="0"/>
          <p:nvPr/>
        </p:nvPicPr>
        <p:blipFill rotWithShape="1">
          <a:blip r:embed="rId10">
            <a:alphaModFix/>
          </a:blip>
          <a:srcRect b="0" l="0" r="0" t="0"/>
          <a:stretch/>
        </p:blipFill>
        <p:spPr>
          <a:xfrm>
            <a:off x="10903284" y="4823900"/>
            <a:ext cx="476126" cy="476126"/>
          </a:xfrm>
          <a:prstGeom prst="rect">
            <a:avLst/>
          </a:prstGeom>
          <a:noFill/>
          <a:ln>
            <a:noFill/>
          </a:ln>
        </p:spPr>
      </p:pic>
      <p:sp>
        <p:nvSpPr>
          <p:cNvPr id="45" name="Google Shape;45;p5"/>
          <p:cNvSpPr txBox="1"/>
          <p:nvPr/>
        </p:nvSpPr>
        <p:spPr>
          <a:xfrm>
            <a:off x="6872877" y="4490612"/>
            <a:ext cx="3859001" cy="1142702"/>
          </a:xfrm>
          <a:prstGeom prst="rect">
            <a:avLst/>
          </a:prstGeom>
          <a:noFill/>
          <a:ln>
            <a:noFill/>
          </a:ln>
        </p:spPr>
        <p:txBody>
          <a:bodyPr anchorCtr="0" anchor="t" bIns="0" lIns="0" spcFirstLastPara="1" rIns="0" wrap="square" tIns="0">
            <a:spAutoFit/>
          </a:bodyPr>
          <a:lstStyle/>
          <a:p>
            <a:pPr indent="0" lvl="0" marL="0" marR="0" rtl="1" algn="r">
              <a:lnSpc>
                <a:spcPct val="149933"/>
              </a:lnSpc>
              <a:spcBef>
                <a:spcPts val="0"/>
              </a:spcBef>
              <a:spcAft>
                <a:spcPts val="0"/>
              </a:spcAft>
              <a:buNone/>
            </a:pPr>
            <a:r>
              <a:rPr b="1" i="0" lang="en-US" sz="1500" u="none" cap="none" strike="noStrike">
                <a:solidFill>
                  <a:srgbClr val="E2E8F0"/>
                </a:solidFill>
                <a:latin typeface="Assistant"/>
                <a:ea typeface="Assistant"/>
                <a:cs typeface="Assistant"/>
                <a:sym typeface="Assistant"/>
              </a:rPr>
              <a:t>מתודולוגיית הניתוח המדעי:</a:t>
            </a:r>
            <a:r>
              <a:rPr b="0" i="0" lang="en-US" sz="1500" u="none" cap="none" strike="noStrike">
                <a:solidFill>
                  <a:srgbClr val="E2E8F0"/>
                </a:solidFill>
                <a:latin typeface="Assistant"/>
                <a:ea typeface="Assistant"/>
                <a:cs typeface="Assistant"/>
                <a:sym typeface="Assistant"/>
              </a:rPr>
              <a:t>  המודל מסתמך על נתוני התמודדות ותמותה היסטוריים  שנמדדו ונאספו ממגיפת הקורונה העולמית החל משנת 2019  ועד לשנת 2022.</a:t>
            </a:r>
            <a:endParaRPr/>
          </a:p>
        </p:txBody>
      </p:sp>
      <p:sp>
        <p:nvSpPr>
          <p:cNvPr id="46" name="Google Shape;46;p5"/>
          <p:cNvSpPr txBox="1"/>
          <p:nvPr/>
        </p:nvSpPr>
        <p:spPr>
          <a:xfrm>
            <a:off x="3769876" y="2424374"/>
            <a:ext cx="2312633" cy="825034"/>
          </a:xfrm>
          <a:prstGeom prst="rect">
            <a:avLst/>
          </a:prstGeom>
          <a:noFill/>
          <a:ln>
            <a:noFill/>
          </a:ln>
        </p:spPr>
        <p:txBody>
          <a:bodyPr anchorCtr="0" anchor="t" bIns="0" lIns="0" spcFirstLastPara="1" rIns="0" wrap="square" tIns="0">
            <a:spAutoFit/>
          </a:bodyPr>
          <a:lstStyle/>
          <a:p>
            <a:pPr indent="0" lvl="0" marL="0" marR="0" rtl="0"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זיהוי מוקדם של סיכונים,</a:t>
            </a:r>
            <a:endParaRPr/>
          </a:p>
          <a:p>
            <a:pPr indent="0" lvl="0" marL="0" marR="0" rtl="1"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 בדיקות בהיקפים רחבים ומנגנוני דיווח אמינים ומהירים.</a:t>
            </a:r>
            <a:endParaRPr/>
          </a:p>
        </p:txBody>
      </p:sp>
      <p:sp>
        <p:nvSpPr>
          <p:cNvPr id="47" name="Google Shape;47;p5"/>
          <p:cNvSpPr txBox="1"/>
          <p:nvPr/>
        </p:nvSpPr>
        <p:spPr>
          <a:xfrm>
            <a:off x="790516" y="2310104"/>
            <a:ext cx="2312782" cy="1106875"/>
          </a:xfrm>
          <a:prstGeom prst="rect">
            <a:avLst/>
          </a:prstGeom>
          <a:noFill/>
          <a:ln>
            <a:noFill/>
          </a:ln>
        </p:spPr>
        <p:txBody>
          <a:bodyPr anchorCtr="0" anchor="t" bIns="0" lIns="0" spcFirstLastPara="1" rIns="0" wrap="square" tIns="0">
            <a:spAutoFit/>
          </a:bodyPr>
          <a:lstStyle/>
          <a:p>
            <a:pPr indent="0" lvl="0" marL="0" marR="0" rtl="1"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מדידת כוח האדם הרפואי, תשתית מיטות אשפוז וטיפול נמרץ הזמינים לתושבים</a:t>
            </a:r>
            <a:endParaRPr b="0" i="0" sz="1500" u="none" cap="none" strike="noStrike">
              <a:solidFill>
                <a:srgbClr val="94A3B8"/>
              </a:solidFill>
              <a:latin typeface="Assistant"/>
              <a:ea typeface="Assistant"/>
              <a:cs typeface="Assistant"/>
              <a:sym typeface="Assistant"/>
            </a:endParaRPr>
          </a:p>
          <a:p>
            <a:pPr indent="0" lvl="0" marL="0" marR="0" rtl="1"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בעתות חירום.</a:t>
            </a:r>
            <a:endParaRPr/>
          </a:p>
        </p:txBody>
      </p:sp>
      <p:sp>
        <p:nvSpPr>
          <p:cNvPr id="48" name="Google Shape;48;p5"/>
          <p:cNvSpPr txBox="1"/>
          <p:nvPr/>
        </p:nvSpPr>
        <p:spPr>
          <a:xfrm>
            <a:off x="3769876" y="4595508"/>
            <a:ext cx="2312633" cy="1107163"/>
          </a:xfrm>
          <a:prstGeom prst="rect">
            <a:avLst/>
          </a:prstGeom>
          <a:noFill/>
          <a:ln>
            <a:noFill/>
          </a:ln>
        </p:spPr>
        <p:txBody>
          <a:bodyPr anchorCtr="0" anchor="t" bIns="0" lIns="0" spcFirstLastPara="1" rIns="0" wrap="square" tIns="0">
            <a:spAutoFit/>
          </a:bodyPr>
          <a:lstStyle/>
          <a:p>
            <a:pPr indent="0" lvl="0" marL="0" marR="0" rtl="1"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ניתוח שכיחות מחלות רקע , אחוז האוכלוסייה המבוגרת בסיכון ומאפיינים גיאוגרפיים לאומיים.</a:t>
            </a:r>
            <a:endParaRPr/>
          </a:p>
        </p:txBody>
      </p:sp>
      <p:sp>
        <p:nvSpPr>
          <p:cNvPr id="49" name="Google Shape;49;p5"/>
          <p:cNvSpPr txBox="1"/>
          <p:nvPr/>
        </p:nvSpPr>
        <p:spPr>
          <a:xfrm>
            <a:off x="790516" y="4481238"/>
            <a:ext cx="2312782" cy="1142702"/>
          </a:xfrm>
          <a:prstGeom prst="rect">
            <a:avLst/>
          </a:prstGeom>
          <a:noFill/>
          <a:ln>
            <a:noFill/>
          </a:ln>
        </p:spPr>
        <p:txBody>
          <a:bodyPr anchorCtr="0" anchor="t" bIns="0" lIns="0" spcFirstLastPara="1" rIns="0" wrap="square" tIns="0">
            <a:spAutoFit/>
          </a:bodyPr>
          <a:lstStyle/>
          <a:p>
            <a:pPr indent="0" lvl="0" marL="0" marR="0" rtl="1" algn="r">
              <a:lnSpc>
                <a:spcPct val="149933"/>
              </a:lnSpc>
              <a:spcBef>
                <a:spcPts val="0"/>
              </a:spcBef>
              <a:spcAft>
                <a:spcPts val="0"/>
              </a:spcAft>
              <a:buNone/>
            </a:pPr>
            <a:r>
              <a:rPr b="0" i="0" lang="en-US" sz="1500" u="none" cap="none" strike="noStrike">
                <a:solidFill>
                  <a:srgbClr val="94A3B8"/>
                </a:solidFill>
                <a:latin typeface="Assistant"/>
                <a:ea typeface="Assistant"/>
                <a:cs typeface="Assistant"/>
                <a:sym typeface="Assistant"/>
              </a:rPr>
              <a:t>מידת הנגישות של תשתיות דיגיטליות ורשת האינטרנט לניהול משברים מרוחקים במדינה.</a:t>
            </a:r>
            <a:endParaRPr/>
          </a:p>
        </p:txBody>
      </p:sp>
      <p:pic>
        <p:nvPicPr>
          <p:cNvPr descr="image.png" id="50" name="Google Shape;50;p5"/>
          <p:cNvPicPr preferRelativeResize="0"/>
          <p:nvPr/>
        </p:nvPicPr>
        <p:blipFill rotWithShape="1">
          <a:blip r:embed="rId11">
            <a:alphaModFix/>
          </a:blip>
          <a:srcRect b="0" l="0" r="0" t="0"/>
          <a:stretch/>
        </p:blipFill>
        <p:spPr>
          <a:xfrm>
            <a:off x="11112780" y="1843649"/>
            <a:ext cx="228540" cy="228540"/>
          </a:xfrm>
          <a:prstGeom prst="rect">
            <a:avLst/>
          </a:prstGeom>
          <a:noFill/>
          <a:ln>
            <a:noFill/>
          </a:ln>
        </p:spPr>
      </p:pic>
      <p:pic>
        <p:nvPicPr>
          <p:cNvPr descr="image.png" id="51" name="Google Shape;51;p5"/>
          <p:cNvPicPr preferRelativeResize="0"/>
          <p:nvPr/>
        </p:nvPicPr>
        <p:blipFill rotWithShape="1">
          <a:blip r:embed="rId12">
            <a:alphaModFix/>
          </a:blip>
          <a:srcRect b="0" l="0" r="0" t="0"/>
          <a:stretch/>
        </p:blipFill>
        <p:spPr>
          <a:xfrm>
            <a:off x="11036600" y="4957215"/>
            <a:ext cx="209495" cy="209495"/>
          </a:xfrm>
          <a:prstGeom prst="rect">
            <a:avLst/>
          </a:prstGeom>
          <a:noFill/>
          <a:ln>
            <a:noFill/>
          </a:ln>
        </p:spPr>
      </p:pic>
      <p:pic>
        <p:nvPicPr>
          <p:cNvPr descr="image.png" id="52" name="Google Shape;52;p5"/>
          <p:cNvPicPr preferRelativeResize="0"/>
          <p:nvPr/>
        </p:nvPicPr>
        <p:blipFill rotWithShape="1">
          <a:blip r:embed="rId13">
            <a:alphaModFix/>
          </a:blip>
          <a:srcRect b="0" l="0" r="0" t="0"/>
          <a:stretch/>
        </p:blipFill>
        <p:spPr>
          <a:xfrm>
            <a:off x="5695656" y="1833977"/>
            <a:ext cx="386852" cy="418991"/>
          </a:xfrm>
          <a:prstGeom prst="rect">
            <a:avLst/>
          </a:prstGeom>
          <a:noFill/>
          <a:ln>
            <a:noFill/>
          </a:ln>
        </p:spPr>
      </p:pic>
      <p:sp>
        <p:nvSpPr>
          <p:cNvPr id="53" name="Google Shape;53;p5"/>
          <p:cNvSpPr txBox="1"/>
          <p:nvPr/>
        </p:nvSpPr>
        <p:spPr>
          <a:xfrm>
            <a:off x="3769876" y="1776843"/>
            <a:ext cx="1902086" cy="50769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650" u="none" cap="none" strike="noStrike">
                <a:solidFill>
                  <a:srgbClr val="FFFFFF"/>
                </a:solidFill>
                <a:latin typeface="Assistant"/>
                <a:ea typeface="Assistant"/>
                <a:cs typeface="Assistant"/>
                <a:sym typeface="Assistant"/>
              </a:rPr>
              <a:t>יכולת ניטור וגילוי מוקדם</a:t>
            </a:r>
            <a:endParaRPr b="1" i="0" sz="1650" u="none" cap="none" strike="noStrike">
              <a:solidFill>
                <a:srgbClr val="FFFFFF"/>
              </a:solidFill>
              <a:latin typeface="Assistant"/>
              <a:ea typeface="Assistant"/>
              <a:cs typeface="Assistant"/>
              <a:sym typeface="Assistant"/>
            </a:endParaRPr>
          </a:p>
        </p:txBody>
      </p:sp>
      <p:pic>
        <p:nvPicPr>
          <p:cNvPr descr="image.png" id="54" name="Google Shape;54;p5"/>
          <p:cNvPicPr preferRelativeResize="0"/>
          <p:nvPr/>
        </p:nvPicPr>
        <p:blipFill rotWithShape="1">
          <a:blip r:embed="rId14">
            <a:alphaModFix/>
          </a:blip>
          <a:srcRect b="0" l="0" r="0" t="0"/>
          <a:stretch/>
        </p:blipFill>
        <p:spPr>
          <a:xfrm>
            <a:off x="2684308" y="1776842"/>
            <a:ext cx="418991" cy="418991"/>
          </a:xfrm>
          <a:prstGeom prst="rect">
            <a:avLst/>
          </a:prstGeom>
          <a:noFill/>
          <a:ln>
            <a:noFill/>
          </a:ln>
        </p:spPr>
      </p:pic>
      <p:sp>
        <p:nvSpPr>
          <p:cNvPr id="55" name="Google Shape;55;p5"/>
          <p:cNvSpPr txBox="1"/>
          <p:nvPr/>
        </p:nvSpPr>
        <p:spPr>
          <a:xfrm>
            <a:off x="808373" y="1853022"/>
            <a:ext cx="1849749" cy="2538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50" u="none" cap="none" strike="noStrike">
                <a:solidFill>
                  <a:srgbClr val="FFFFFF"/>
                </a:solidFill>
                <a:latin typeface="Assistant"/>
                <a:ea typeface="Assistant"/>
                <a:cs typeface="Assistant"/>
                <a:sym typeface="Assistant"/>
              </a:rPr>
              <a:t>חוסן מערכת הבריאות</a:t>
            </a:r>
            <a:endParaRPr b="1" i="0" sz="1650" u="none" cap="none" strike="noStrike">
              <a:solidFill>
                <a:srgbClr val="FFFFFF"/>
              </a:solidFill>
              <a:latin typeface="Assistant"/>
              <a:ea typeface="Assistant"/>
              <a:cs typeface="Assistant"/>
              <a:sym typeface="Assistant"/>
            </a:endParaRPr>
          </a:p>
        </p:txBody>
      </p:sp>
      <p:pic>
        <p:nvPicPr>
          <p:cNvPr descr="image.png" id="56" name="Google Shape;56;p5"/>
          <p:cNvPicPr preferRelativeResize="0"/>
          <p:nvPr/>
        </p:nvPicPr>
        <p:blipFill rotWithShape="1">
          <a:blip r:embed="rId15">
            <a:alphaModFix/>
          </a:blip>
          <a:srcRect b="0" l="0" r="0" t="0"/>
          <a:stretch/>
        </p:blipFill>
        <p:spPr>
          <a:xfrm>
            <a:off x="5740739" y="4005112"/>
            <a:ext cx="341769" cy="418991"/>
          </a:xfrm>
          <a:prstGeom prst="rect">
            <a:avLst/>
          </a:prstGeom>
          <a:noFill/>
          <a:ln>
            <a:noFill/>
          </a:ln>
        </p:spPr>
      </p:pic>
      <p:sp>
        <p:nvSpPr>
          <p:cNvPr id="57" name="Google Shape;57;p5"/>
          <p:cNvSpPr txBox="1"/>
          <p:nvPr/>
        </p:nvSpPr>
        <p:spPr>
          <a:xfrm>
            <a:off x="3769876" y="3947977"/>
            <a:ext cx="1949423" cy="50769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650" u="none" cap="none" strike="noStrike">
                <a:solidFill>
                  <a:srgbClr val="FFFFFF"/>
                </a:solidFill>
                <a:latin typeface="Assistant"/>
                <a:ea typeface="Assistant"/>
                <a:cs typeface="Assistant"/>
                <a:sym typeface="Assistant"/>
              </a:rPr>
              <a:t>פגיעות דמוגרפית וגאוגרפית</a:t>
            </a:r>
            <a:endParaRPr b="1" i="0" sz="1650" u="none" cap="none" strike="noStrike">
              <a:solidFill>
                <a:srgbClr val="FFFFFF"/>
              </a:solidFill>
              <a:latin typeface="Assistant"/>
              <a:ea typeface="Assistant"/>
              <a:cs typeface="Assistant"/>
              <a:sym typeface="Assistant"/>
            </a:endParaRPr>
          </a:p>
        </p:txBody>
      </p:sp>
      <p:pic>
        <p:nvPicPr>
          <p:cNvPr descr="image.png" id="58" name="Google Shape;58;p5"/>
          <p:cNvPicPr preferRelativeResize="0"/>
          <p:nvPr/>
        </p:nvPicPr>
        <p:blipFill rotWithShape="1">
          <a:blip r:embed="rId14">
            <a:alphaModFix/>
          </a:blip>
          <a:srcRect b="0" l="0" r="0" t="0"/>
          <a:stretch/>
        </p:blipFill>
        <p:spPr>
          <a:xfrm>
            <a:off x="2684308" y="3947977"/>
            <a:ext cx="418991" cy="418991"/>
          </a:xfrm>
          <a:prstGeom prst="rect">
            <a:avLst/>
          </a:prstGeom>
          <a:noFill/>
          <a:ln>
            <a:noFill/>
          </a:ln>
        </p:spPr>
      </p:pic>
      <p:sp>
        <p:nvSpPr>
          <p:cNvPr id="59" name="Google Shape;59;p5"/>
          <p:cNvSpPr txBox="1"/>
          <p:nvPr/>
        </p:nvSpPr>
        <p:spPr>
          <a:xfrm>
            <a:off x="1246408" y="4024157"/>
            <a:ext cx="1389811" cy="2538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50" u="none" cap="none" strike="noStrike">
                <a:solidFill>
                  <a:srgbClr val="FFFFFF"/>
                </a:solidFill>
                <a:latin typeface="Assistant"/>
                <a:ea typeface="Assistant"/>
                <a:cs typeface="Assistant"/>
                <a:sym typeface="Assistant"/>
              </a:rPr>
              <a:t>אימוץ טכנולוגיה</a:t>
            </a:r>
            <a:endParaRPr/>
          </a:p>
        </p:txBody>
      </p:sp>
      <p:pic>
        <p:nvPicPr>
          <p:cNvPr descr="image.png" id="60" name="Google Shape;60;p5"/>
          <p:cNvPicPr preferRelativeResize="0"/>
          <p:nvPr/>
        </p:nvPicPr>
        <p:blipFill rotWithShape="1">
          <a:blip r:embed="rId16">
            <a:alphaModFix/>
          </a:blip>
          <a:srcRect b="0" l="0" r="0" t="0"/>
          <a:stretch/>
        </p:blipFill>
        <p:spPr>
          <a:xfrm>
            <a:off x="5803380" y="1957770"/>
            <a:ext cx="171405" cy="171405"/>
          </a:xfrm>
          <a:prstGeom prst="rect">
            <a:avLst/>
          </a:prstGeom>
          <a:noFill/>
          <a:ln>
            <a:noFill/>
          </a:ln>
        </p:spPr>
      </p:pic>
      <p:pic>
        <p:nvPicPr>
          <p:cNvPr descr="image.png" id="61" name="Google Shape;61;p5"/>
          <p:cNvPicPr preferRelativeResize="0"/>
          <p:nvPr/>
        </p:nvPicPr>
        <p:blipFill rotWithShape="1">
          <a:blip r:embed="rId17">
            <a:alphaModFix/>
          </a:blip>
          <a:srcRect b="0" l="0" r="0" t="0"/>
          <a:stretch/>
        </p:blipFill>
        <p:spPr>
          <a:xfrm>
            <a:off x="2798579" y="1900635"/>
            <a:ext cx="190450" cy="171405"/>
          </a:xfrm>
          <a:prstGeom prst="rect">
            <a:avLst/>
          </a:prstGeom>
          <a:noFill/>
          <a:ln>
            <a:noFill/>
          </a:ln>
        </p:spPr>
      </p:pic>
      <p:pic>
        <p:nvPicPr>
          <p:cNvPr descr="image.png" id="62" name="Google Shape;62;p5"/>
          <p:cNvPicPr preferRelativeResize="0"/>
          <p:nvPr/>
        </p:nvPicPr>
        <p:blipFill rotWithShape="1">
          <a:blip r:embed="rId18">
            <a:alphaModFix/>
          </a:blip>
          <a:srcRect b="0" l="0" r="0" t="0"/>
          <a:stretch/>
        </p:blipFill>
        <p:spPr>
          <a:xfrm>
            <a:off x="5802190" y="4128905"/>
            <a:ext cx="219018" cy="171405"/>
          </a:xfrm>
          <a:prstGeom prst="rect">
            <a:avLst/>
          </a:prstGeom>
          <a:noFill/>
          <a:ln>
            <a:noFill/>
          </a:ln>
        </p:spPr>
      </p:pic>
      <p:pic>
        <p:nvPicPr>
          <p:cNvPr descr="image.png" id="63" name="Google Shape;63;p5"/>
          <p:cNvPicPr preferRelativeResize="0"/>
          <p:nvPr/>
        </p:nvPicPr>
        <p:blipFill rotWithShape="1">
          <a:blip r:embed="rId19">
            <a:alphaModFix/>
          </a:blip>
          <a:srcRect b="0" l="0" r="0" t="0"/>
          <a:stretch/>
        </p:blipFill>
        <p:spPr>
          <a:xfrm>
            <a:off x="2784295" y="4071770"/>
            <a:ext cx="219018" cy="1714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image.png" id="68" name="Google Shape;68;p6"/>
          <p:cNvPicPr preferRelativeResize="0"/>
          <p:nvPr/>
        </p:nvPicPr>
        <p:blipFill rotWithShape="1">
          <a:blip r:embed="rId3">
            <a:alphaModFix/>
          </a:blip>
          <a:srcRect b="0" l="0" r="0" t="0"/>
          <a:stretch/>
        </p:blipFill>
        <p:spPr>
          <a:xfrm>
            <a:off x="-1" y="893"/>
            <a:ext cx="12188825" cy="6856214"/>
          </a:xfrm>
          <a:prstGeom prst="rect">
            <a:avLst/>
          </a:prstGeom>
          <a:noFill/>
          <a:ln>
            <a:noFill/>
          </a:ln>
        </p:spPr>
      </p:pic>
      <p:pic>
        <p:nvPicPr>
          <p:cNvPr descr="image.png" id="69" name="Google Shape;69;p6"/>
          <p:cNvPicPr preferRelativeResize="0"/>
          <p:nvPr/>
        </p:nvPicPr>
        <p:blipFill rotWithShape="1">
          <a:blip r:embed="rId4">
            <a:alphaModFix/>
          </a:blip>
          <a:srcRect b="0" l="0" r="0" t="0"/>
          <a:stretch/>
        </p:blipFill>
        <p:spPr>
          <a:xfrm>
            <a:off x="571351" y="1831300"/>
            <a:ext cx="11046123" cy="805545"/>
          </a:xfrm>
          <a:prstGeom prst="rect">
            <a:avLst/>
          </a:prstGeom>
          <a:noFill/>
          <a:ln>
            <a:noFill/>
          </a:ln>
        </p:spPr>
      </p:pic>
      <p:pic>
        <p:nvPicPr>
          <p:cNvPr descr="image.png" id="70" name="Google Shape;70;p6"/>
          <p:cNvPicPr preferRelativeResize="0"/>
          <p:nvPr/>
        </p:nvPicPr>
        <p:blipFill rotWithShape="1">
          <a:blip r:embed="rId5">
            <a:alphaModFix/>
          </a:blip>
          <a:srcRect b="0" l="0" r="0" t="0"/>
          <a:stretch/>
        </p:blipFill>
        <p:spPr>
          <a:xfrm>
            <a:off x="571351" y="4449694"/>
            <a:ext cx="11046123" cy="1119788"/>
          </a:xfrm>
          <a:prstGeom prst="rect">
            <a:avLst/>
          </a:prstGeom>
          <a:noFill/>
          <a:ln>
            <a:noFill/>
          </a:ln>
        </p:spPr>
      </p:pic>
      <p:pic>
        <p:nvPicPr>
          <p:cNvPr descr="image.png" id="71" name="Google Shape;71;p6"/>
          <p:cNvPicPr preferRelativeResize="0"/>
          <p:nvPr/>
        </p:nvPicPr>
        <p:blipFill rotWithShape="1">
          <a:blip r:embed="rId6">
            <a:alphaModFix/>
          </a:blip>
          <a:srcRect b="0" l="0" r="0" t="0"/>
          <a:stretch/>
        </p:blipFill>
        <p:spPr>
          <a:xfrm>
            <a:off x="9148313" y="2779684"/>
            <a:ext cx="2469159" cy="1527173"/>
          </a:xfrm>
          <a:prstGeom prst="rect">
            <a:avLst/>
          </a:prstGeom>
          <a:noFill/>
          <a:ln>
            <a:noFill/>
          </a:ln>
        </p:spPr>
      </p:pic>
      <p:pic>
        <p:nvPicPr>
          <p:cNvPr descr="image.png" id="72" name="Google Shape;72;p6"/>
          <p:cNvPicPr preferRelativeResize="0"/>
          <p:nvPr/>
        </p:nvPicPr>
        <p:blipFill rotWithShape="1">
          <a:blip r:embed="rId7">
            <a:alphaModFix/>
          </a:blip>
          <a:srcRect b="0" l="0" r="0" t="0"/>
          <a:stretch/>
        </p:blipFill>
        <p:spPr>
          <a:xfrm>
            <a:off x="6165980" y="2779684"/>
            <a:ext cx="2839495" cy="1527173"/>
          </a:xfrm>
          <a:prstGeom prst="rect">
            <a:avLst/>
          </a:prstGeom>
          <a:noFill/>
          <a:ln>
            <a:noFill/>
          </a:ln>
        </p:spPr>
      </p:pic>
      <p:pic>
        <p:nvPicPr>
          <p:cNvPr descr="image.png" id="73" name="Google Shape;73;p6"/>
          <p:cNvPicPr preferRelativeResize="0"/>
          <p:nvPr/>
        </p:nvPicPr>
        <p:blipFill rotWithShape="1">
          <a:blip r:embed="rId8">
            <a:alphaModFix/>
          </a:blip>
          <a:srcRect b="0" l="0" r="0" t="0"/>
          <a:stretch/>
        </p:blipFill>
        <p:spPr>
          <a:xfrm>
            <a:off x="3553833" y="2779684"/>
            <a:ext cx="2469308" cy="1527173"/>
          </a:xfrm>
          <a:prstGeom prst="rect">
            <a:avLst/>
          </a:prstGeom>
          <a:noFill/>
          <a:ln>
            <a:noFill/>
          </a:ln>
        </p:spPr>
      </p:pic>
      <p:pic>
        <p:nvPicPr>
          <p:cNvPr descr="image.png" id="74" name="Google Shape;74;p6"/>
          <p:cNvPicPr preferRelativeResize="0"/>
          <p:nvPr/>
        </p:nvPicPr>
        <p:blipFill rotWithShape="1">
          <a:blip r:embed="rId9">
            <a:alphaModFix/>
          </a:blip>
          <a:srcRect b="0" l="0" r="0" t="0"/>
          <a:stretch/>
        </p:blipFill>
        <p:spPr>
          <a:xfrm>
            <a:off x="571499" y="2779684"/>
            <a:ext cx="2839495" cy="1527173"/>
          </a:xfrm>
          <a:prstGeom prst="rect">
            <a:avLst/>
          </a:prstGeom>
          <a:noFill/>
          <a:ln>
            <a:noFill/>
          </a:ln>
        </p:spPr>
      </p:pic>
      <p:pic>
        <p:nvPicPr>
          <p:cNvPr descr="image.png" id="75" name="Google Shape;75;p6"/>
          <p:cNvPicPr preferRelativeResize="0"/>
          <p:nvPr/>
        </p:nvPicPr>
        <p:blipFill rotWithShape="1">
          <a:blip r:embed="rId10">
            <a:alphaModFix/>
          </a:blip>
          <a:srcRect b="0" l="0" r="0" t="0"/>
          <a:stretch/>
        </p:blipFill>
        <p:spPr>
          <a:xfrm>
            <a:off x="818936" y="4778644"/>
            <a:ext cx="4483916" cy="764777"/>
          </a:xfrm>
          <a:prstGeom prst="rect">
            <a:avLst/>
          </a:prstGeom>
          <a:noFill/>
          <a:ln>
            <a:noFill/>
          </a:ln>
        </p:spPr>
      </p:pic>
      <p:sp>
        <p:nvSpPr>
          <p:cNvPr id="76" name="Google Shape;76;p6"/>
          <p:cNvSpPr/>
          <p:nvPr/>
        </p:nvSpPr>
        <p:spPr>
          <a:xfrm>
            <a:off x="-1" y="6780927"/>
            <a:ext cx="12188825" cy="7618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6"/>
          <p:cNvSpPr txBox="1"/>
          <p:nvPr/>
        </p:nvSpPr>
        <p:spPr>
          <a:xfrm>
            <a:off x="19044" y="648425"/>
            <a:ext cx="11598429" cy="438339"/>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849" u="none" cap="none" strike="noStrike">
                <a:solidFill>
                  <a:srgbClr val="FFFFFF"/>
                </a:solidFill>
                <a:latin typeface="Assistant"/>
                <a:ea typeface="Assistant"/>
                <a:cs typeface="Assistant"/>
                <a:sym typeface="Assistant"/>
              </a:rPr>
              <a:t>הפתרון המערכתי והגדרת המשתנים</a:t>
            </a:r>
            <a:endParaRPr/>
          </a:p>
        </p:txBody>
      </p:sp>
      <p:sp>
        <p:nvSpPr>
          <p:cNvPr id="78" name="Google Shape;78;p6"/>
          <p:cNvSpPr txBox="1"/>
          <p:nvPr/>
        </p:nvSpPr>
        <p:spPr>
          <a:xfrm>
            <a:off x="10503339" y="381794"/>
            <a:ext cx="1114135" cy="2076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F39C12"/>
                </a:solidFill>
                <a:latin typeface="Assistant"/>
                <a:ea typeface="Assistant"/>
                <a:cs typeface="Assistant"/>
                <a:sym typeface="Assistant"/>
              </a:rPr>
              <a:t>פתרון טכנולוגי</a:t>
            </a:r>
            <a:endParaRPr/>
          </a:p>
        </p:txBody>
      </p:sp>
      <p:sp>
        <p:nvSpPr>
          <p:cNvPr id="79" name="Google Shape;79;p6"/>
          <p:cNvSpPr txBox="1"/>
          <p:nvPr/>
        </p:nvSpPr>
        <p:spPr>
          <a:xfrm>
            <a:off x="571351" y="391317"/>
            <a:ext cx="720140" cy="2076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0D2FF"/>
                </a:solidFill>
                <a:latin typeface="Arial"/>
                <a:ea typeface="Arial"/>
                <a:cs typeface="Arial"/>
                <a:sym typeface="Arial"/>
              </a:rPr>
              <a:t>03 / 10</a:t>
            </a:r>
            <a:endParaRPr/>
          </a:p>
        </p:txBody>
      </p:sp>
      <p:sp>
        <p:nvSpPr>
          <p:cNvPr id="80" name="Google Shape;80;p6"/>
          <p:cNvSpPr txBox="1"/>
          <p:nvPr/>
        </p:nvSpPr>
        <p:spPr>
          <a:xfrm>
            <a:off x="4654130" y="6228621"/>
            <a:ext cx="2880562" cy="1615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FFFFFF"/>
                </a:solidFill>
                <a:latin typeface="Assistant"/>
                <a:ea typeface="Assistant"/>
                <a:cs typeface="Assistant"/>
                <a:sym typeface="Assistant"/>
              </a:rPr>
              <a:t>מערכת חיזוי וניתוח נתוני עתק | הגדרת משתני קלט ויעד</a:t>
            </a:r>
            <a:endParaRPr/>
          </a:p>
        </p:txBody>
      </p:sp>
      <p:sp>
        <p:nvSpPr>
          <p:cNvPr id="81" name="Google Shape;81;p6"/>
          <p:cNvSpPr txBox="1"/>
          <p:nvPr/>
        </p:nvSpPr>
        <p:spPr>
          <a:xfrm>
            <a:off x="771323" y="2259812"/>
            <a:ext cx="10608087" cy="238978"/>
          </a:xfrm>
          <a:prstGeom prst="rect">
            <a:avLst/>
          </a:prstGeom>
          <a:noFill/>
          <a:ln>
            <a:noFill/>
          </a:ln>
        </p:spPr>
        <p:txBody>
          <a:bodyPr anchorCtr="0" anchor="t" bIns="0" lIns="0" spcFirstLastPara="1" rIns="0" wrap="square" tIns="0">
            <a:spAutoFit/>
          </a:bodyPr>
          <a:lstStyle/>
          <a:p>
            <a:pPr indent="0" lvl="0" marL="0" marR="0" rtl="1" algn="r">
              <a:lnSpc>
                <a:spcPct val="139929"/>
              </a:lnSpc>
              <a:spcBef>
                <a:spcPts val="0"/>
              </a:spcBef>
              <a:spcAft>
                <a:spcPts val="0"/>
              </a:spcAft>
              <a:buNone/>
            </a:pPr>
            <a:r>
              <a:rPr b="0" i="0" lang="en-US" sz="1425" u="none" cap="none" strike="noStrike">
                <a:solidFill>
                  <a:srgbClr val="CBD5E1"/>
                </a:solidFill>
                <a:latin typeface="Assistant"/>
                <a:ea typeface="Assistant"/>
                <a:cs typeface="Assistant"/>
                <a:sym typeface="Assistant"/>
              </a:rPr>
              <a:t>נבנה מודל למידת מכונה המיועד לחיזוי מגמות מוכנות עם דיוק אופטימלי וזמן ריצה מנימלי, המבוסס על  9 משתני קלט בשנים  2020- 2021 </a:t>
            </a:r>
            <a:endParaRPr b="0" i="0" sz="1425" u="none" cap="none" strike="noStrike">
              <a:solidFill>
                <a:srgbClr val="CBD5E1"/>
              </a:solidFill>
              <a:latin typeface="Assistant"/>
              <a:ea typeface="Assistant"/>
              <a:cs typeface="Assistant"/>
              <a:sym typeface="Assistant"/>
            </a:endParaRPr>
          </a:p>
        </p:txBody>
      </p:sp>
      <p:pic>
        <p:nvPicPr>
          <p:cNvPr descr="image.png" id="82" name="Google Shape;82;p6"/>
          <p:cNvPicPr preferRelativeResize="0"/>
          <p:nvPr/>
        </p:nvPicPr>
        <p:blipFill rotWithShape="1">
          <a:blip r:embed="rId11">
            <a:alphaModFix/>
          </a:blip>
          <a:srcRect b="0" l="0" r="0" t="0"/>
          <a:stretch/>
        </p:blipFill>
        <p:spPr>
          <a:xfrm>
            <a:off x="11169915" y="1983660"/>
            <a:ext cx="209495" cy="209495"/>
          </a:xfrm>
          <a:prstGeom prst="rect">
            <a:avLst/>
          </a:prstGeom>
          <a:noFill/>
          <a:ln>
            <a:noFill/>
          </a:ln>
        </p:spPr>
      </p:pic>
      <p:sp>
        <p:nvSpPr>
          <p:cNvPr id="83" name="Google Shape;83;p6"/>
          <p:cNvSpPr txBox="1"/>
          <p:nvPr/>
        </p:nvSpPr>
        <p:spPr>
          <a:xfrm>
            <a:off x="7818121" y="1955092"/>
            <a:ext cx="3256570" cy="253916"/>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650" u="none" cap="none" strike="noStrike">
                <a:solidFill>
                  <a:srgbClr val="F39C12"/>
                </a:solidFill>
                <a:latin typeface="Assistant"/>
                <a:ea typeface="Assistant"/>
                <a:cs typeface="Assistant"/>
                <a:sym typeface="Assistant"/>
              </a:rPr>
              <a:t>מטרת המודל והמערכת</a:t>
            </a:r>
            <a:endParaRPr/>
          </a:p>
        </p:txBody>
      </p:sp>
      <p:sp>
        <p:nvSpPr>
          <p:cNvPr id="84" name="Google Shape;84;p6"/>
          <p:cNvSpPr txBox="1"/>
          <p:nvPr/>
        </p:nvSpPr>
        <p:spPr>
          <a:xfrm>
            <a:off x="5540915" y="4954388"/>
            <a:ext cx="5828972" cy="217367"/>
          </a:xfrm>
          <a:prstGeom prst="rect">
            <a:avLst/>
          </a:prstGeom>
          <a:noFill/>
          <a:ln>
            <a:noFill/>
          </a:ln>
        </p:spPr>
        <p:txBody>
          <a:bodyPr anchorCtr="0" anchor="t" bIns="0" lIns="0" spcFirstLastPara="1" rIns="0" wrap="square" tIns="0">
            <a:spAutoFit/>
          </a:bodyPr>
          <a:lstStyle/>
          <a:p>
            <a:pPr indent="0" lvl="0" marL="0" marR="0" rtl="1" algn="r">
              <a:lnSpc>
                <a:spcPct val="134888"/>
              </a:lnSpc>
              <a:spcBef>
                <a:spcPts val="0"/>
              </a:spcBef>
              <a:spcAft>
                <a:spcPts val="0"/>
              </a:spcAft>
              <a:buNone/>
            </a:pPr>
            <a:r>
              <a:rPr b="0" i="0" lang="en-US" sz="1350" u="none" cap="none" strike="noStrike">
                <a:solidFill>
                  <a:srgbClr val="CBD5E1"/>
                </a:solidFill>
                <a:latin typeface="Assistant"/>
                <a:ea typeface="Assistant"/>
                <a:cs typeface="Assistant"/>
                <a:sym typeface="Assistant"/>
              </a:rPr>
              <a:t>משתנה היעד מחושב באופן יחסי לחציון העולמי ומגדיר את רמת המוכנות של המדינה:</a:t>
            </a:r>
            <a:endParaRPr b="0" i="0" sz="1350" u="none" cap="none" strike="noStrike">
              <a:solidFill>
                <a:srgbClr val="CBD5E1"/>
              </a:solidFill>
              <a:latin typeface="Assistant"/>
              <a:ea typeface="Assistant"/>
              <a:cs typeface="Assistant"/>
              <a:sym typeface="Assistant"/>
            </a:endParaRPr>
          </a:p>
        </p:txBody>
      </p:sp>
      <p:pic>
        <p:nvPicPr>
          <p:cNvPr descr="image.png" id="85" name="Google Shape;85;p6"/>
          <p:cNvPicPr preferRelativeResize="0"/>
          <p:nvPr/>
        </p:nvPicPr>
        <p:blipFill rotWithShape="1">
          <a:blip r:embed="rId12">
            <a:alphaModFix/>
          </a:blip>
          <a:srcRect b="0" l="0" r="0" t="0"/>
          <a:stretch/>
        </p:blipFill>
        <p:spPr>
          <a:xfrm>
            <a:off x="971146" y="4848747"/>
            <a:ext cx="4160448" cy="593371"/>
          </a:xfrm>
          <a:prstGeom prst="rect">
            <a:avLst/>
          </a:prstGeom>
          <a:noFill/>
          <a:ln>
            <a:noFill/>
          </a:ln>
        </p:spPr>
      </p:pic>
      <p:pic>
        <p:nvPicPr>
          <p:cNvPr descr="image.png" id="86" name="Google Shape;86;p6"/>
          <p:cNvPicPr preferRelativeResize="0"/>
          <p:nvPr/>
        </p:nvPicPr>
        <p:blipFill rotWithShape="1">
          <a:blip r:embed="rId13">
            <a:alphaModFix/>
          </a:blip>
          <a:srcRect b="0" l="0" r="0" t="0"/>
          <a:stretch/>
        </p:blipFill>
        <p:spPr>
          <a:xfrm>
            <a:off x="11208005" y="2936805"/>
            <a:ext cx="228540" cy="180928"/>
          </a:xfrm>
          <a:prstGeom prst="rect">
            <a:avLst/>
          </a:prstGeom>
          <a:noFill/>
          <a:ln>
            <a:noFill/>
          </a:ln>
        </p:spPr>
      </p:pic>
      <p:sp>
        <p:nvSpPr>
          <p:cNvPr id="87" name="Google Shape;87;p6"/>
          <p:cNvSpPr txBox="1"/>
          <p:nvPr/>
        </p:nvSpPr>
        <p:spPr>
          <a:xfrm>
            <a:off x="9263479" y="2912998"/>
            <a:ext cx="1868346" cy="219291"/>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425" u="none" cap="none" strike="noStrike">
                <a:solidFill>
                  <a:srgbClr val="00D2FF"/>
                </a:solidFill>
                <a:latin typeface="Assistant"/>
                <a:ea typeface="Assistant"/>
                <a:cs typeface="Assistant"/>
                <a:sym typeface="Assistant"/>
              </a:rPr>
              <a:t>משאבי מערכת הבריאות</a:t>
            </a:r>
            <a:endParaRPr b="1" i="0" sz="1425" u="none" cap="none" strike="noStrike">
              <a:solidFill>
                <a:srgbClr val="00D2FF"/>
              </a:solidFill>
              <a:latin typeface="Assistant"/>
              <a:ea typeface="Assistant"/>
              <a:cs typeface="Assistant"/>
              <a:sym typeface="Assistant"/>
            </a:endParaRPr>
          </a:p>
        </p:txBody>
      </p:sp>
      <p:sp>
        <p:nvSpPr>
          <p:cNvPr id="88" name="Google Shape;88;p6"/>
          <p:cNvSpPr txBox="1"/>
          <p:nvPr/>
        </p:nvSpPr>
        <p:spPr>
          <a:xfrm>
            <a:off x="9108352" y="3363567"/>
            <a:ext cx="2145393"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מיטות אשפוז  ל-1,000 איש (%)</a:t>
            </a:r>
            <a:endParaRPr b="0" i="0" sz="1275" u="none" cap="none" strike="noStrike">
              <a:solidFill>
                <a:srgbClr val="E2E8F0"/>
              </a:solidFill>
              <a:latin typeface="Assistant"/>
              <a:ea typeface="Assistant"/>
              <a:cs typeface="Assistant"/>
              <a:sym typeface="Assistant"/>
            </a:endParaRPr>
          </a:p>
        </p:txBody>
      </p:sp>
      <p:sp>
        <p:nvSpPr>
          <p:cNvPr id="89" name="Google Shape;89;p6"/>
          <p:cNvSpPr txBox="1"/>
          <p:nvPr/>
        </p:nvSpPr>
        <p:spPr>
          <a:xfrm>
            <a:off x="9046009" y="3814907"/>
            <a:ext cx="2161996" cy="42454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רופאים זמינים לכל 1,000  תושבים (%)</a:t>
            </a:r>
            <a:endParaRPr b="0" i="0" sz="1275" u="none" cap="none" strike="noStrike">
              <a:solidFill>
                <a:srgbClr val="E2E8F0"/>
              </a:solidFill>
              <a:latin typeface="Assistant"/>
              <a:ea typeface="Assistant"/>
              <a:cs typeface="Assistant"/>
              <a:sym typeface="Assistant"/>
            </a:endParaRPr>
          </a:p>
        </p:txBody>
      </p:sp>
      <p:pic>
        <p:nvPicPr>
          <p:cNvPr descr="image.png" id="90" name="Google Shape;90;p6"/>
          <p:cNvPicPr preferRelativeResize="0"/>
          <p:nvPr/>
        </p:nvPicPr>
        <p:blipFill rotWithShape="1">
          <a:blip r:embed="rId14">
            <a:alphaModFix/>
          </a:blip>
          <a:srcRect b="0" l="0" r="0" t="0"/>
          <a:stretch/>
        </p:blipFill>
        <p:spPr>
          <a:xfrm>
            <a:off x="8643620" y="2936805"/>
            <a:ext cx="180928" cy="180928"/>
          </a:xfrm>
          <a:prstGeom prst="rect">
            <a:avLst/>
          </a:prstGeom>
          <a:noFill/>
          <a:ln>
            <a:noFill/>
          </a:ln>
        </p:spPr>
      </p:pic>
      <p:sp>
        <p:nvSpPr>
          <p:cNvPr id="91" name="Google Shape;91;p6"/>
          <p:cNvSpPr txBox="1"/>
          <p:nvPr/>
        </p:nvSpPr>
        <p:spPr>
          <a:xfrm>
            <a:off x="6568440" y="2912998"/>
            <a:ext cx="1999000" cy="219291"/>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425" u="none" cap="none" strike="noStrike">
                <a:solidFill>
                  <a:srgbClr val="00D2FF"/>
                </a:solidFill>
                <a:latin typeface="Assistant"/>
                <a:ea typeface="Assistant"/>
                <a:cs typeface="Assistant"/>
                <a:sym typeface="Assistant"/>
              </a:rPr>
              <a:t>מדדי מוכנות ומחלה</a:t>
            </a:r>
            <a:endParaRPr b="1" i="0" sz="1425" u="none" cap="none" strike="noStrike">
              <a:solidFill>
                <a:srgbClr val="00D2FF"/>
              </a:solidFill>
              <a:latin typeface="Assistant"/>
              <a:ea typeface="Assistant"/>
              <a:cs typeface="Assistant"/>
              <a:sym typeface="Assistant"/>
            </a:endParaRPr>
          </a:p>
        </p:txBody>
      </p:sp>
      <p:sp>
        <p:nvSpPr>
          <p:cNvPr id="92" name="Google Shape;92;p6"/>
          <p:cNvSpPr txBox="1"/>
          <p:nvPr/>
        </p:nvSpPr>
        <p:spPr>
          <a:xfrm>
            <a:off x="5915500" y="3283552"/>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ציון "Early Detection" (GHS)</a:t>
            </a:r>
            <a:endParaRPr/>
          </a:p>
        </p:txBody>
      </p:sp>
      <p:sp>
        <p:nvSpPr>
          <p:cNvPr id="93" name="Google Shape;93;p6"/>
          <p:cNvSpPr txBox="1"/>
          <p:nvPr/>
        </p:nvSpPr>
        <p:spPr>
          <a:xfrm>
            <a:off x="5932678" y="3574848"/>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בדיקות קורונה ב-2021 ל-1,000 איש (%)</a:t>
            </a:r>
            <a:endParaRPr b="0" i="0" sz="1275" u="none" cap="none" strike="noStrike">
              <a:solidFill>
                <a:srgbClr val="E2E8F0"/>
              </a:solidFill>
              <a:latin typeface="Assistant"/>
              <a:ea typeface="Assistant"/>
              <a:cs typeface="Assistant"/>
              <a:sym typeface="Assistant"/>
            </a:endParaRPr>
          </a:p>
        </p:txBody>
      </p:sp>
      <p:sp>
        <p:nvSpPr>
          <p:cNvPr id="94" name="Google Shape;94;p6"/>
          <p:cNvSpPr txBox="1"/>
          <p:nvPr/>
        </p:nvSpPr>
        <p:spPr>
          <a:xfrm>
            <a:off x="5915500" y="3873573"/>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ציון מדד GHSI  הכללי והרציף</a:t>
            </a:r>
            <a:endParaRPr b="0" i="0" sz="1275" u="none" cap="none" strike="noStrike">
              <a:solidFill>
                <a:srgbClr val="E2E8F0"/>
              </a:solidFill>
              <a:latin typeface="Assistant"/>
              <a:ea typeface="Assistant"/>
              <a:cs typeface="Assistant"/>
              <a:sym typeface="Assistant"/>
            </a:endParaRPr>
          </a:p>
        </p:txBody>
      </p:sp>
      <p:pic>
        <p:nvPicPr>
          <p:cNvPr descr="image.png" id="95" name="Google Shape;95;p6"/>
          <p:cNvPicPr preferRelativeResize="0"/>
          <p:nvPr/>
        </p:nvPicPr>
        <p:blipFill rotWithShape="1">
          <a:blip r:embed="rId15">
            <a:alphaModFix/>
          </a:blip>
          <a:srcRect b="0" l="0" r="0" t="0"/>
          <a:stretch/>
        </p:blipFill>
        <p:spPr>
          <a:xfrm>
            <a:off x="5613673" y="2936805"/>
            <a:ext cx="228540" cy="180928"/>
          </a:xfrm>
          <a:prstGeom prst="rect">
            <a:avLst/>
          </a:prstGeom>
          <a:noFill/>
          <a:ln>
            <a:noFill/>
          </a:ln>
        </p:spPr>
      </p:pic>
      <p:sp>
        <p:nvSpPr>
          <p:cNvPr id="96" name="Google Shape;96;p6"/>
          <p:cNvSpPr txBox="1"/>
          <p:nvPr/>
        </p:nvSpPr>
        <p:spPr>
          <a:xfrm>
            <a:off x="3860339" y="2912998"/>
            <a:ext cx="1677155" cy="219291"/>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425" u="none" cap="none" strike="noStrike">
                <a:solidFill>
                  <a:srgbClr val="F39C12"/>
                </a:solidFill>
                <a:latin typeface="Assistant"/>
                <a:ea typeface="Assistant"/>
                <a:cs typeface="Assistant"/>
                <a:sym typeface="Assistant"/>
              </a:rPr>
              <a:t>מוכנות טכנולוגית</a:t>
            </a:r>
            <a:endParaRPr b="1" i="0" sz="1425" u="none" cap="none" strike="noStrike">
              <a:solidFill>
                <a:srgbClr val="F39C12"/>
              </a:solidFill>
              <a:latin typeface="Assistant"/>
              <a:ea typeface="Assistant"/>
              <a:cs typeface="Assistant"/>
              <a:sym typeface="Assistant"/>
            </a:endParaRPr>
          </a:p>
        </p:txBody>
      </p:sp>
      <p:sp>
        <p:nvSpPr>
          <p:cNvPr id="97" name="Google Shape;97;p6"/>
          <p:cNvSpPr txBox="1"/>
          <p:nvPr/>
        </p:nvSpPr>
        <p:spPr>
          <a:xfrm>
            <a:off x="3696671" y="3363567"/>
            <a:ext cx="2145542" cy="205260"/>
          </a:xfrm>
          <a:prstGeom prst="rect">
            <a:avLst/>
          </a:prstGeom>
          <a:noFill/>
          <a:ln>
            <a:noFill/>
          </a:ln>
        </p:spPr>
        <p:txBody>
          <a:bodyPr anchorCtr="0" anchor="ctr" bIns="0" lIns="0" spcFirstLastPara="1" rIns="0" wrap="square" tIns="0">
            <a:spAutoFit/>
          </a:bodyPr>
          <a:lstStyle/>
          <a:p>
            <a:pPr indent="0" lvl="0" marL="0" marR="0" rtl="1" algn="l">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משתמשי אינטרנט במדינה (%)</a:t>
            </a:r>
            <a:endParaRPr/>
          </a:p>
        </p:txBody>
      </p:sp>
      <p:pic>
        <p:nvPicPr>
          <p:cNvPr descr="image.png" id="98" name="Google Shape;98;p6"/>
          <p:cNvPicPr preferRelativeResize="0"/>
          <p:nvPr/>
        </p:nvPicPr>
        <p:blipFill rotWithShape="1">
          <a:blip r:embed="rId16">
            <a:alphaModFix/>
          </a:blip>
          <a:srcRect b="0" l="0" r="0" t="0"/>
          <a:stretch/>
        </p:blipFill>
        <p:spPr>
          <a:xfrm>
            <a:off x="3001527" y="2936805"/>
            <a:ext cx="228540" cy="180928"/>
          </a:xfrm>
          <a:prstGeom prst="rect">
            <a:avLst/>
          </a:prstGeom>
          <a:noFill/>
          <a:ln>
            <a:noFill/>
          </a:ln>
        </p:spPr>
      </p:pic>
      <p:sp>
        <p:nvSpPr>
          <p:cNvPr id="99" name="Google Shape;99;p6"/>
          <p:cNvSpPr txBox="1"/>
          <p:nvPr/>
        </p:nvSpPr>
        <p:spPr>
          <a:xfrm>
            <a:off x="752280" y="2912998"/>
            <a:ext cx="2173067" cy="219291"/>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425" u="none" cap="none" strike="noStrike">
                <a:solidFill>
                  <a:srgbClr val="00D2FF"/>
                </a:solidFill>
                <a:latin typeface="Assistant"/>
                <a:ea typeface="Assistant"/>
                <a:cs typeface="Assistant"/>
                <a:sym typeface="Assistant"/>
              </a:rPr>
              <a:t>פרופיל דמוגרפי ובריאותי</a:t>
            </a:r>
            <a:endParaRPr b="1" i="0" sz="1425" u="none" cap="none" strike="noStrike">
              <a:solidFill>
                <a:srgbClr val="00D2FF"/>
              </a:solidFill>
              <a:latin typeface="Assistant"/>
              <a:ea typeface="Assistant"/>
              <a:cs typeface="Assistant"/>
              <a:sym typeface="Assistant"/>
            </a:endParaRPr>
          </a:p>
        </p:txBody>
      </p:sp>
      <p:sp>
        <p:nvSpPr>
          <p:cNvPr id="100" name="Google Shape;100;p6"/>
          <p:cNvSpPr txBox="1"/>
          <p:nvPr/>
        </p:nvSpPr>
        <p:spPr>
          <a:xfrm>
            <a:off x="350610" y="3260692"/>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שיעור בני 60+  באוכלוסייה (%)</a:t>
            </a:r>
            <a:endParaRPr/>
          </a:p>
        </p:txBody>
      </p:sp>
      <p:sp>
        <p:nvSpPr>
          <p:cNvPr id="101" name="Google Shape;101;p6"/>
          <p:cNvSpPr txBox="1"/>
          <p:nvPr/>
        </p:nvSpPr>
        <p:spPr>
          <a:xfrm>
            <a:off x="319152" y="3543858"/>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שכיחות מעשנים באוכלוסייה (%)</a:t>
            </a:r>
            <a:endParaRPr/>
          </a:p>
        </p:txBody>
      </p:sp>
      <p:sp>
        <p:nvSpPr>
          <p:cNvPr id="102" name="Google Shape;102;p6"/>
          <p:cNvSpPr txBox="1"/>
          <p:nvPr/>
        </p:nvSpPr>
        <p:spPr>
          <a:xfrm>
            <a:off x="341016" y="3858850"/>
            <a:ext cx="2515730" cy="205260"/>
          </a:xfrm>
          <a:prstGeom prst="rect">
            <a:avLst/>
          </a:prstGeom>
          <a:noFill/>
          <a:ln>
            <a:noFill/>
          </a:ln>
        </p:spPr>
        <p:txBody>
          <a:bodyPr anchorCtr="0" anchor="ctr" bIns="0" lIns="0" spcFirstLastPara="1" rIns="0" wrap="square" tIns="0">
            <a:spAutoFit/>
          </a:bodyPr>
          <a:lstStyle/>
          <a:p>
            <a:pPr indent="0" lvl="0" marL="0" marR="0" rtl="1" algn="r">
              <a:lnSpc>
                <a:spcPct val="129960"/>
              </a:lnSpc>
              <a:spcBef>
                <a:spcPts val="0"/>
              </a:spcBef>
              <a:spcAft>
                <a:spcPts val="0"/>
              </a:spcAft>
              <a:buNone/>
            </a:pPr>
            <a:r>
              <a:rPr b="0" i="0" lang="en-US" sz="1275" u="none" cap="none" strike="noStrike">
                <a:solidFill>
                  <a:srgbClr val="E2E8F0"/>
                </a:solidFill>
                <a:latin typeface="Assistant"/>
                <a:ea typeface="Assistant"/>
                <a:cs typeface="Assistant"/>
                <a:sym typeface="Assistant"/>
              </a:rPr>
              <a:t>שכיחות חולי סוכרת באוכלוסייה (%)</a:t>
            </a:r>
            <a:endParaRPr/>
          </a:p>
        </p:txBody>
      </p:sp>
      <p:pic>
        <p:nvPicPr>
          <p:cNvPr descr="image.png" id="103" name="Google Shape;103;p6"/>
          <p:cNvPicPr preferRelativeResize="0"/>
          <p:nvPr/>
        </p:nvPicPr>
        <p:blipFill rotWithShape="1">
          <a:blip r:embed="rId17">
            <a:alphaModFix/>
          </a:blip>
          <a:srcRect b="0" l="0" r="0" t="0"/>
          <a:stretch/>
        </p:blipFill>
        <p:spPr>
          <a:xfrm>
            <a:off x="11208005" y="4659190"/>
            <a:ext cx="161883" cy="209495"/>
          </a:xfrm>
          <a:prstGeom prst="rect">
            <a:avLst/>
          </a:prstGeom>
          <a:noFill/>
          <a:ln>
            <a:noFill/>
          </a:ln>
        </p:spPr>
      </p:pic>
      <p:sp>
        <p:nvSpPr>
          <p:cNvPr id="104" name="Google Shape;104;p6"/>
          <p:cNvSpPr txBox="1"/>
          <p:nvPr/>
        </p:nvSpPr>
        <p:spPr>
          <a:xfrm>
            <a:off x="5379181" y="4630622"/>
            <a:ext cx="5752644" cy="253916"/>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None/>
            </a:pPr>
            <a:r>
              <a:rPr b="1" i="0" lang="en-US" sz="1650" u="none" cap="none" strike="noStrike">
                <a:solidFill>
                  <a:srgbClr val="F39C12"/>
                </a:solidFill>
                <a:latin typeface="Assistant"/>
                <a:ea typeface="Assistant"/>
                <a:cs typeface="Assistant"/>
                <a:sym typeface="Assistant"/>
              </a:rPr>
              <a:t>הגדרת משתנה מטרה בנארי (Y)  המבוסס על תמותה עודפת ב2022:</a:t>
            </a:r>
            <a:endParaRPr/>
          </a:p>
        </p:txBody>
      </p:sp>
      <p:pic>
        <p:nvPicPr>
          <p:cNvPr descr="image.png" id="105" name="Google Shape;105;p6"/>
          <p:cNvPicPr preferRelativeResize="0"/>
          <p:nvPr/>
        </p:nvPicPr>
        <p:blipFill rotWithShape="1">
          <a:blip r:embed="rId18">
            <a:alphaModFix/>
          </a:blip>
          <a:srcRect b="0" l="0" r="0" t="0"/>
          <a:stretch/>
        </p:blipFill>
        <p:spPr>
          <a:xfrm>
            <a:off x="11253745" y="3351035"/>
            <a:ext cx="304721" cy="230325"/>
          </a:xfrm>
          <a:prstGeom prst="rect">
            <a:avLst/>
          </a:prstGeom>
          <a:noFill/>
          <a:ln>
            <a:noFill/>
          </a:ln>
        </p:spPr>
      </p:pic>
      <p:pic>
        <p:nvPicPr>
          <p:cNvPr descr="image.png" id="106" name="Google Shape;106;p6"/>
          <p:cNvPicPr preferRelativeResize="0"/>
          <p:nvPr/>
        </p:nvPicPr>
        <p:blipFill rotWithShape="1">
          <a:blip r:embed="rId19">
            <a:alphaModFix/>
          </a:blip>
          <a:srcRect b="0" l="0" r="0" t="0"/>
          <a:stretch/>
        </p:blipFill>
        <p:spPr>
          <a:xfrm>
            <a:off x="11276605" y="3863231"/>
            <a:ext cx="304721" cy="230325"/>
          </a:xfrm>
          <a:prstGeom prst="rect">
            <a:avLst/>
          </a:prstGeom>
          <a:noFill/>
          <a:ln>
            <a:noFill/>
          </a:ln>
        </p:spPr>
      </p:pic>
      <p:pic>
        <p:nvPicPr>
          <p:cNvPr descr="image.png" id="107" name="Google Shape;107;p6"/>
          <p:cNvPicPr preferRelativeResize="0"/>
          <p:nvPr/>
        </p:nvPicPr>
        <p:blipFill rotWithShape="1">
          <a:blip r:embed="rId20">
            <a:alphaModFix/>
          </a:blip>
          <a:srcRect b="0" l="0" r="0" t="0"/>
          <a:stretch/>
        </p:blipFill>
        <p:spPr>
          <a:xfrm>
            <a:off x="8519827" y="3255810"/>
            <a:ext cx="304721" cy="230325"/>
          </a:xfrm>
          <a:prstGeom prst="rect">
            <a:avLst/>
          </a:prstGeom>
          <a:noFill/>
          <a:ln>
            <a:noFill/>
          </a:ln>
        </p:spPr>
      </p:pic>
      <p:pic>
        <p:nvPicPr>
          <p:cNvPr descr="image.png" id="108" name="Google Shape;108;p6"/>
          <p:cNvPicPr preferRelativeResize="0"/>
          <p:nvPr/>
        </p:nvPicPr>
        <p:blipFill rotWithShape="1">
          <a:blip r:embed="rId21">
            <a:alphaModFix/>
          </a:blip>
          <a:srcRect b="0" l="0" r="0" t="0"/>
          <a:stretch/>
        </p:blipFill>
        <p:spPr>
          <a:xfrm>
            <a:off x="8519827" y="3562316"/>
            <a:ext cx="304721" cy="230325"/>
          </a:xfrm>
          <a:prstGeom prst="rect">
            <a:avLst/>
          </a:prstGeom>
          <a:noFill/>
          <a:ln>
            <a:noFill/>
          </a:ln>
        </p:spPr>
      </p:pic>
      <p:pic>
        <p:nvPicPr>
          <p:cNvPr descr="image.png" id="109" name="Google Shape;109;p6"/>
          <p:cNvPicPr preferRelativeResize="0"/>
          <p:nvPr/>
        </p:nvPicPr>
        <p:blipFill rotWithShape="1">
          <a:blip r:embed="rId22">
            <a:alphaModFix/>
          </a:blip>
          <a:srcRect b="0" l="0" r="0" t="0"/>
          <a:stretch/>
        </p:blipFill>
        <p:spPr>
          <a:xfrm>
            <a:off x="8519827" y="3868821"/>
            <a:ext cx="304721" cy="230325"/>
          </a:xfrm>
          <a:prstGeom prst="rect">
            <a:avLst/>
          </a:prstGeom>
          <a:noFill/>
          <a:ln>
            <a:noFill/>
          </a:ln>
        </p:spPr>
      </p:pic>
      <p:pic>
        <p:nvPicPr>
          <p:cNvPr descr="image.png" id="110" name="Google Shape;110;p6"/>
          <p:cNvPicPr preferRelativeResize="0"/>
          <p:nvPr/>
        </p:nvPicPr>
        <p:blipFill rotWithShape="1">
          <a:blip r:embed="rId23">
            <a:alphaModFix/>
          </a:blip>
          <a:srcRect b="0" l="0" r="0" t="0"/>
          <a:stretch/>
        </p:blipFill>
        <p:spPr>
          <a:xfrm>
            <a:off x="5537493" y="3351035"/>
            <a:ext cx="304721" cy="230325"/>
          </a:xfrm>
          <a:prstGeom prst="rect">
            <a:avLst/>
          </a:prstGeom>
          <a:noFill/>
          <a:ln>
            <a:noFill/>
          </a:ln>
        </p:spPr>
      </p:pic>
      <p:pic>
        <p:nvPicPr>
          <p:cNvPr descr="image.png" id="111" name="Google Shape;111;p6"/>
          <p:cNvPicPr preferRelativeResize="0"/>
          <p:nvPr/>
        </p:nvPicPr>
        <p:blipFill rotWithShape="1">
          <a:blip r:embed="rId24">
            <a:alphaModFix/>
          </a:blip>
          <a:srcRect b="0" l="0" r="0" t="0"/>
          <a:stretch/>
        </p:blipFill>
        <p:spPr>
          <a:xfrm>
            <a:off x="2925346" y="3255810"/>
            <a:ext cx="304721" cy="230325"/>
          </a:xfrm>
          <a:prstGeom prst="rect">
            <a:avLst/>
          </a:prstGeom>
          <a:noFill/>
          <a:ln>
            <a:noFill/>
          </a:ln>
        </p:spPr>
      </p:pic>
      <p:pic>
        <p:nvPicPr>
          <p:cNvPr descr="image.png" id="112" name="Google Shape;112;p6"/>
          <p:cNvPicPr preferRelativeResize="0"/>
          <p:nvPr/>
        </p:nvPicPr>
        <p:blipFill rotWithShape="1">
          <a:blip r:embed="rId25">
            <a:alphaModFix/>
          </a:blip>
          <a:srcRect b="0" l="0" r="0" t="0"/>
          <a:stretch/>
        </p:blipFill>
        <p:spPr>
          <a:xfrm>
            <a:off x="2925346" y="3562316"/>
            <a:ext cx="304721" cy="230325"/>
          </a:xfrm>
          <a:prstGeom prst="rect">
            <a:avLst/>
          </a:prstGeom>
          <a:noFill/>
          <a:ln>
            <a:noFill/>
          </a:ln>
        </p:spPr>
      </p:pic>
      <p:pic>
        <p:nvPicPr>
          <p:cNvPr descr="image.png" id="113" name="Google Shape;113;p6"/>
          <p:cNvPicPr preferRelativeResize="0"/>
          <p:nvPr/>
        </p:nvPicPr>
        <p:blipFill rotWithShape="1">
          <a:blip r:embed="rId26">
            <a:alphaModFix/>
          </a:blip>
          <a:srcRect b="0" l="0" r="0" t="0"/>
          <a:stretch/>
        </p:blipFill>
        <p:spPr>
          <a:xfrm>
            <a:off x="2925346" y="3868821"/>
            <a:ext cx="304721" cy="230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image.png" id="118" name="Google Shape;118;p7"/>
          <p:cNvPicPr preferRelativeResize="0"/>
          <p:nvPr/>
        </p:nvPicPr>
        <p:blipFill rotWithShape="1">
          <a:blip r:embed="rId3">
            <a:alphaModFix/>
          </a:blip>
          <a:srcRect b="0" l="0" r="0" t="0"/>
          <a:stretch/>
        </p:blipFill>
        <p:spPr>
          <a:xfrm>
            <a:off x="-24384" y="0"/>
            <a:ext cx="12188826" cy="6856214"/>
          </a:xfrm>
          <a:prstGeom prst="rect">
            <a:avLst/>
          </a:prstGeom>
          <a:noFill/>
          <a:ln>
            <a:noFill/>
          </a:ln>
        </p:spPr>
      </p:pic>
      <p:pic>
        <p:nvPicPr>
          <p:cNvPr descr="image.png" id="119" name="Google Shape;119;p7"/>
          <p:cNvPicPr preferRelativeResize="0"/>
          <p:nvPr/>
        </p:nvPicPr>
        <p:blipFill rotWithShape="1">
          <a:blip r:embed="rId4">
            <a:alphaModFix/>
          </a:blip>
          <a:srcRect b="0" l="0" r="0" t="0"/>
          <a:stretch/>
        </p:blipFill>
        <p:spPr>
          <a:xfrm>
            <a:off x="10574757" y="2168425"/>
            <a:ext cx="418991" cy="419100"/>
          </a:xfrm>
          <a:prstGeom prst="rect">
            <a:avLst/>
          </a:prstGeom>
          <a:noFill/>
          <a:ln>
            <a:noFill/>
          </a:ln>
        </p:spPr>
      </p:pic>
      <p:pic>
        <p:nvPicPr>
          <p:cNvPr descr="image.png" id="120" name="Google Shape;120;p7"/>
          <p:cNvPicPr preferRelativeResize="0"/>
          <p:nvPr/>
        </p:nvPicPr>
        <p:blipFill rotWithShape="1">
          <a:blip r:embed="rId5">
            <a:alphaModFix/>
          </a:blip>
          <a:srcRect b="0" l="0" r="0" t="0"/>
          <a:stretch/>
        </p:blipFill>
        <p:spPr>
          <a:xfrm>
            <a:off x="9951033" y="2825650"/>
            <a:ext cx="1666441" cy="1904504"/>
          </a:xfrm>
          <a:prstGeom prst="rect">
            <a:avLst/>
          </a:prstGeom>
          <a:noFill/>
          <a:ln>
            <a:noFill/>
          </a:ln>
        </p:spPr>
      </p:pic>
      <p:pic>
        <p:nvPicPr>
          <p:cNvPr descr="image.png" id="121" name="Google Shape;121;p7"/>
          <p:cNvPicPr preferRelativeResize="0"/>
          <p:nvPr/>
        </p:nvPicPr>
        <p:blipFill rotWithShape="1">
          <a:blip r:embed="rId6">
            <a:alphaModFix/>
          </a:blip>
          <a:srcRect b="0" l="0" r="0" t="0"/>
          <a:stretch/>
        </p:blipFill>
        <p:spPr>
          <a:xfrm>
            <a:off x="8698821" y="2168425"/>
            <a:ext cx="418991" cy="419100"/>
          </a:xfrm>
          <a:prstGeom prst="rect">
            <a:avLst/>
          </a:prstGeom>
          <a:noFill/>
          <a:ln>
            <a:noFill/>
          </a:ln>
        </p:spPr>
      </p:pic>
      <p:pic>
        <p:nvPicPr>
          <p:cNvPr descr="image.png" id="122" name="Google Shape;122;p7"/>
          <p:cNvPicPr preferRelativeResize="0"/>
          <p:nvPr/>
        </p:nvPicPr>
        <p:blipFill rotWithShape="1">
          <a:blip r:embed="rId7">
            <a:alphaModFix/>
          </a:blip>
          <a:srcRect b="0" l="0" r="0" t="0"/>
          <a:stretch/>
        </p:blipFill>
        <p:spPr>
          <a:xfrm>
            <a:off x="8075097" y="2825650"/>
            <a:ext cx="1666441" cy="1904504"/>
          </a:xfrm>
          <a:prstGeom prst="rect">
            <a:avLst/>
          </a:prstGeom>
          <a:noFill/>
          <a:ln>
            <a:noFill/>
          </a:ln>
        </p:spPr>
      </p:pic>
      <p:pic>
        <p:nvPicPr>
          <p:cNvPr descr="image.png" id="123" name="Google Shape;123;p7"/>
          <p:cNvPicPr preferRelativeResize="0"/>
          <p:nvPr/>
        </p:nvPicPr>
        <p:blipFill rotWithShape="1">
          <a:blip r:embed="rId8">
            <a:alphaModFix/>
          </a:blip>
          <a:srcRect b="0" l="0" r="0" t="0"/>
          <a:stretch/>
        </p:blipFill>
        <p:spPr>
          <a:xfrm>
            <a:off x="6822885" y="2168425"/>
            <a:ext cx="418991" cy="419100"/>
          </a:xfrm>
          <a:prstGeom prst="rect">
            <a:avLst/>
          </a:prstGeom>
          <a:noFill/>
          <a:ln>
            <a:noFill/>
          </a:ln>
        </p:spPr>
      </p:pic>
      <p:pic>
        <p:nvPicPr>
          <p:cNvPr descr="image.png" id="124" name="Google Shape;124;p7"/>
          <p:cNvPicPr preferRelativeResize="0"/>
          <p:nvPr/>
        </p:nvPicPr>
        <p:blipFill rotWithShape="1">
          <a:blip r:embed="rId5">
            <a:alphaModFix/>
          </a:blip>
          <a:srcRect b="0" l="0" r="0" t="0"/>
          <a:stretch/>
        </p:blipFill>
        <p:spPr>
          <a:xfrm>
            <a:off x="6199160" y="2825650"/>
            <a:ext cx="1666441" cy="1904504"/>
          </a:xfrm>
          <a:prstGeom prst="rect">
            <a:avLst/>
          </a:prstGeom>
          <a:noFill/>
          <a:ln>
            <a:noFill/>
          </a:ln>
        </p:spPr>
      </p:pic>
      <p:pic>
        <p:nvPicPr>
          <p:cNvPr descr="image.png" id="125" name="Google Shape;125;p7"/>
          <p:cNvPicPr preferRelativeResize="0"/>
          <p:nvPr/>
        </p:nvPicPr>
        <p:blipFill rotWithShape="1">
          <a:blip r:embed="rId9">
            <a:alphaModFix/>
          </a:blip>
          <a:srcRect b="0" l="0" r="0" t="0"/>
          <a:stretch/>
        </p:blipFill>
        <p:spPr>
          <a:xfrm>
            <a:off x="4946948" y="2168425"/>
            <a:ext cx="418991" cy="419100"/>
          </a:xfrm>
          <a:prstGeom prst="rect">
            <a:avLst/>
          </a:prstGeom>
          <a:noFill/>
          <a:ln>
            <a:noFill/>
          </a:ln>
        </p:spPr>
      </p:pic>
      <p:pic>
        <p:nvPicPr>
          <p:cNvPr descr="image.png" id="126" name="Google Shape;126;p7"/>
          <p:cNvPicPr preferRelativeResize="0"/>
          <p:nvPr/>
        </p:nvPicPr>
        <p:blipFill rotWithShape="1">
          <a:blip r:embed="rId5">
            <a:alphaModFix/>
          </a:blip>
          <a:srcRect b="0" l="0" r="0" t="0"/>
          <a:stretch/>
        </p:blipFill>
        <p:spPr>
          <a:xfrm>
            <a:off x="4323224" y="2825650"/>
            <a:ext cx="1666441" cy="1904504"/>
          </a:xfrm>
          <a:prstGeom prst="rect">
            <a:avLst/>
          </a:prstGeom>
          <a:noFill/>
          <a:ln>
            <a:noFill/>
          </a:ln>
        </p:spPr>
      </p:pic>
      <p:pic>
        <p:nvPicPr>
          <p:cNvPr descr="image.png" id="127" name="Google Shape;127;p7"/>
          <p:cNvPicPr preferRelativeResize="0"/>
          <p:nvPr/>
        </p:nvPicPr>
        <p:blipFill rotWithShape="1">
          <a:blip r:embed="rId10">
            <a:alphaModFix/>
          </a:blip>
          <a:srcRect b="0" l="0" r="0" t="0"/>
          <a:stretch/>
        </p:blipFill>
        <p:spPr>
          <a:xfrm>
            <a:off x="3071012" y="2168425"/>
            <a:ext cx="418991" cy="419100"/>
          </a:xfrm>
          <a:prstGeom prst="rect">
            <a:avLst/>
          </a:prstGeom>
          <a:noFill/>
          <a:ln>
            <a:noFill/>
          </a:ln>
        </p:spPr>
      </p:pic>
      <p:pic>
        <p:nvPicPr>
          <p:cNvPr descr="image.png" id="128" name="Google Shape;128;p7"/>
          <p:cNvPicPr preferRelativeResize="0"/>
          <p:nvPr/>
        </p:nvPicPr>
        <p:blipFill rotWithShape="1">
          <a:blip r:embed="rId5">
            <a:alphaModFix/>
          </a:blip>
          <a:srcRect b="0" l="0" r="0" t="0"/>
          <a:stretch/>
        </p:blipFill>
        <p:spPr>
          <a:xfrm>
            <a:off x="2447288" y="2825650"/>
            <a:ext cx="1666441" cy="1904504"/>
          </a:xfrm>
          <a:prstGeom prst="rect">
            <a:avLst/>
          </a:prstGeom>
          <a:noFill/>
          <a:ln>
            <a:noFill/>
          </a:ln>
        </p:spPr>
      </p:pic>
      <p:pic>
        <p:nvPicPr>
          <p:cNvPr descr="image.png" id="129" name="Google Shape;129;p7"/>
          <p:cNvPicPr preferRelativeResize="0"/>
          <p:nvPr/>
        </p:nvPicPr>
        <p:blipFill rotWithShape="1">
          <a:blip r:embed="rId11">
            <a:alphaModFix/>
          </a:blip>
          <a:srcRect b="0" l="0" r="0" t="0"/>
          <a:stretch/>
        </p:blipFill>
        <p:spPr>
          <a:xfrm>
            <a:off x="1195076" y="2168425"/>
            <a:ext cx="418991" cy="419100"/>
          </a:xfrm>
          <a:prstGeom prst="rect">
            <a:avLst/>
          </a:prstGeom>
          <a:noFill/>
          <a:ln>
            <a:noFill/>
          </a:ln>
        </p:spPr>
      </p:pic>
      <p:pic>
        <p:nvPicPr>
          <p:cNvPr descr="image.png" id="130" name="Google Shape;130;p7"/>
          <p:cNvPicPr preferRelativeResize="0"/>
          <p:nvPr/>
        </p:nvPicPr>
        <p:blipFill rotWithShape="1">
          <a:blip r:embed="rId12">
            <a:alphaModFix/>
          </a:blip>
          <a:srcRect b="0" l="0" r="0" t="0"/>
          <a:stretch/>
        </p:blipFill>
        <p:spPr>
          <a:xfrm>
            <a:off x="571351" y="2825650"/>
            <a:ext cx="1666441" cy="1904504"/>
          </a:xfrm>
          <a:prstGeom prst="rect">
            <a:avLst/>
          </a:prstGeom>
          <a:noFill/>
          <a:ln>
            <a:noFill/>
          </a:ln>
        </p:spPr>
      </p:pic>
      <p:sp>
        <p:nvSpPr>
          <p:cNvPr id="131" name="Google Shape;131;p7"/>
          <p:cNvSpPr/>
          <p:nvPr/>
        </p:nvSpPr>
        <p:spPr>
          <a:xfrm>
            <a:off x="0" y="6781800"/>
            <a:ext cx="12188700" cy="7620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7"/>
          <p:cNvSpPr txBox="1"/>
          <p:nvPr/>
        </p:nvSpPr>
        <p:spPr>
          <a:xfrm>
            <a:off x="295198" y="1041350"/>
            <a:ext cx="115986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תרשים זרימת מידע (High-Level)</a:t>
            </a:r>
            <a:endParaRPr b="0" i="0" sz="1400" u="none" cap="none" strike="noStrike">
              <a:solidFill>
                <a:srgbClr val="000000"/>
              </a:solidFill>
              <a:latin typeface="Arial"/>
              <a:ea typeface="Arial"/>
              <a:cs typeface="Arial"/>
              <a:sym typeface="Arial"/>
            </a:endParaRPr>
          </a:p>
        </p:txBody>
      </p:sp>
      <p:sp>
        <p:nvSpPr>
          <p:cNvPr id="133" name="Google Shape;133;p7"/>
          <p:cNvSpPr txBox="1"/>
          <p:nvPr/>
        </p:nvSpPr>
        <p:spPr>
          <a:xfrm>
            <a:off x="10655699" y="476250"/>
            <a:ext cx="961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39C12"/>
                </a:solidFill>
                <a:latin typeface="Assistant"/>
                <a:ea typeface="Assistant"/>
                <a:cs typeface="Assistant"/>
                <a:sym typeface="Assistant"/>
              </a:rPr>
              <a:t>ארכיטקטורה</a:t>
            </a:r>
            <a:endParaRPr b="0" i="0" sz="1400" u="none" cap="none" strike="noStrike">
              <a:solidFill>
                <a:srgbClr val="000000"/>
              </a:solidFill>
              <a:latin typeface="Arial"/>
              <a:ea typeface="Arial"/>
              <a:cs typeface="Arial"/>
              <a:sym typeface="Arial"/>
            </a:endParaRPr>
          </a:p>
        </p:txBody>
      </p:sp>
      <p:sp>
        <p:nvSpPr>
          <p:cNvPr id="134" name="Google Shape;134;p7"/>
          <p:cNvSpPr txBox="1"/>
          <p:nvPr/>
        </p:nvSpPr>
        <p:spPr>
          <a:xfrm>
            <a:off x="571351" y="485775"/>
            <a:ext cx="7200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D2FF"/>
                </a:solidFill>
                <a:latin typeface="Arial"/>
                <a:ea typeface="Arial"/>
                <a:cs typeface="Arial"/>
                <a:sym typeface="Arial"/>
              </a:rPr>
              <a:t>04 / 10</a:t>
            </a:r>
            <a:endParaRPr b="0" i="0" sz="1400" u="none" cap="none" strike="noStrike">
              <a:solidFill>
                <a:srgbClr val="000000"/>
              </a:solidFill>
              <a:latin typeface="Arial"/>
              <a:ea typeface="Arial"/>
              <a:cs typeface="Arial"/>
              <a:sym typeface="Arial"/>
            </a:endParaRPr>
          </a:p>
        </p:txBody>
      </p:sp>
      <p:sp>
        <p:nvSpPr>
          <p:cNvPr id="135" name="Google Shape;135;p7"/>
          <p:cNvSpPr txBox="1"/>
          <p:nvPr/>
        </p:nvSpPr>
        <p:spPr>
          <a:xfrm>
            <a:off x="5323088" y="6133951"/>
            <a:ext cx="15429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FFFFFF"/>
                </a:solidFill>
                <a:latin typeface="Assistant"/>
                <a:ea typeface="Assistant"/>
                <a:cs typeface="Assistant"/>
                <a:sym typeface="Assistant"/>
              </a:rPr>
              <a:t>מערכת חיזוי וניתוח נתוני עתק</a:t>
            </a:r>
            <a:endParaRPr b="0" i="0" sz="1400" u="none" cap="none" strike="noStrike">
              <a:solidFill>
                <a:srgbClr val="000000"/>
              </a:solidFill>
              <a:latin typeface="Arial"/>
              <a:ea typeface="Arial"/>
              <a:cs typeface="Arial"/>
              <a:sym typeface="Arial"/>
            </a:endParaRPr>
          </a:p>
        </p:txBody>
      </p:sp>
      <p:pic>
        <p:nvPicPr>
          <p:cNvPr descr="image.png" id="136" name="Google Shape;136;p7"/>
          <p:cNvPicPr preferRelativeResize="0"/>
          <p:nvPr/>
        </p:nvPicPr>
        <p:blipFill rotWithShape="1">
          <a:blip r:embed="rId13">
            <a:alphaModFix/>
          </a:blip>
          <a:srcRect b="0" l="0" r="0" t="0"/>
          <a:stretch/>
        </p:blipFill>
        <p:spPr>
          <a:xfrm>
            <a:off x="9793911" y="3130450"/>
            <a:ext cx="104748" cy="171450"/>
          </a:xfrm>
          <a:prstGeom prst="rect">
            <a:avLst/>
          </a:prstGeom>
          <a:noFill/>
          <a:ln>
            <a:noFill/>
          </a:ln>
        </p:spPr>
      </p:pic>
      <p:pic>
        <p:nvPicPr>
          <p:cNvPr descr="image.png" id="137" name="Google Shape;137;p7"/>
          <p:cNvPicPr preferRelativeResize="0"/>
          <p:nvPr/>
        </p:nvPicPr>
        <p:blipFill rotWithShape="1">
          <a:blip r:embed="rId13">
            <a:alphaModFix/>
          </a:blip>
          <a:srcRect b="0" l="0" r="0" t="0"/>
          <a:stretch/>
        </p:blipFill>
        <p:spPr>
          <a:xfrm>
            <a:off x="7917974" y="3130450"/>
            <a:ext cx="104748" cy="171450"/>
          </a:xfrm>
          <a:prstGeom prst="rect">
            <a:avLst/>
          </a:prstGeom>
          <a:noFill/>
          <a:ln>
            <a:noFill/>
          </a:ln>
        </p:spPr>
      </p:pic>
      <p:pic>
        <p:nvPicPr>
          <p:cNvPr descr="image.png" id="138" name="Google Shape;138;p7"/>
          <p:cNvPicPr preferRelativeResize="0"/>
          <p:nvPr/>
        </p:nvPicPr>
        <p:blipFill rotWithShape="1">
          <a:blip r:embed="rId13">
            <a:alphaModFix/>
          </a:blip>
          <a:srcRect b="0" l="0" r="0" t="0"/>
          <a:stretch/>
        </p:blipFill>
        <p:spPr>
          <a:xfrm>
            <a:off x="6042038" y="3130450"/>
            <a:ext cx="104748" cy="171450"/>
          </a:xfrm>
          <a:prstGeom prst="rect">
            <a:avLst/>
          </a:prstGeom>
          <a:noFill/>
          <a:ln>
            <a:noFill/>
          </a:ln>
        </p:spPr>
      </p:pic>
      <p:pic>
        <p:nvPicPr>
          <p:cNvPr descr="image.png" id="139" name="Google Shape;139;p7"/>
          <p:cNvPicPr preferRelativeResize="0"/>
          <p:nvPr/>
        </p:nvPicPr>
        <p:blipFill rotWithShape="1">
          <a:blip r:embed="rId13">
            <a:alphaModFix/>
          </a:blip>
          <a:srcRect b="0" l="0" r="0" t="0"/>
          <a:stretch/>
        </p:blipFill>
        <p:spPr>
          <a:xfrm>
            <a:off x="4166102" y="3130450"/>
            <a:ext cx="104748" cy="171450"/>
          </a:xfrm>
          <a:prstGeom prst="rect">
            <a:avLst/>
          </a:prstGeom>
          <a:noFill/>
          <a:ln>
            <a:noFill/>
          </a:ln>
        </p:spPr>
      </p:pic>
      <p:pic>
        <p:nvPicPr>
          <p:cNvPr descr="image.png" id="140" name="Google Shape;140;p7"/>
          <p:cNvPicPr preferRelativeResize="0"/>
          <p:nvPr/>
        </p:nvPicPr>
        <p:blipFill rotWithShape="1">
          <a:blip r:embed="rId13">
            <a:alphaModFix/>
          </a:blip>
          <a:srcRect b="0" l="0" r="0" t="0"/>
          <a:stretch/>
        </p:blipFill>
        <p:spPr>
          <a:xfrm>
            <a:off x="2290165" y="3130450"/>
            <a:ext cx="104748" cy="171450"/>
          </a:xfrm>
          <a:prstGeom prst="rect">
            <a:avLst/>
          </a:prstGeom>
          <a:noFill/>
          <a:ln>
            <a:noFill/>
          </a:ln>
        </p:spPr>
      </p:pic>
      <p:sp>
        <p:nvSpPr>
          <p:cNvPr id="141" name="Google Shape;141;p7"/>
          <p:cNvSpPr txBox="1"/>
          <p:nvPr/>
        </p:nvSpPr>
        <p:spPr>
          <a:xfrm>
            <a:off x="10003882"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00D2FF"/>
                </a:solidFill>
                <a:latin typeface="Assistant"/>
                <a:ea typeface="Assistant"/>
                <a:cs typeface="Assistant"/>
                <a:sym typeface="Assistant"/>
              </a:rPr>
              <a:t>קלט</a:t>
            </a:r>
            <a:endParaRPr b="0" i="0" sz="1400" u="none" cap="none" strike="noStrike">
              <a:solidFill>
                <a:srgbClr val="000000"/>
              </a:solidFill>
              <a:latin typeface="Arial"/>
              <a:ea typeface="Arial"/>
              <a:cs typeface="Arial"/>
              <a:sym typeface="Arial"/>
            </a:endParaRPr>
          </a:p>
        </p:txBody>
      </p:sp>
      <p:sp>
        <p:nvSpPr>
          <p:cNvPr id="142" name="Google Shape;142;p7"/>
          <p:cNvSpPr txBox="1"/>
          <p:nvPr/>
        </p:nvSpPr>
        <p:spPr>
          <a:xfrm>
            <a:off x="8127946"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FFFFFF"/>
                </a:solidFill>
                <a:latin typeface="Assistant"/>
                <a:ea typeface="Assistant"/>
                <a:cs typeface="Assistant"/>
                <a:sym typeface="Assistant"/>
              </a:rPr>
              <a:t>ארגון נתונים</a:t>
            </a:r>
            <a:endParaRPr b="0" i="0" sz="1400" u="none" cap="none" strike="noStrike">
              <a:solidFill>
                <a:srgbClr val="000000"/>
              </a:solidFill>
              <a:latin typeface="Arial"/>
              <a:ea typeface="Arial"/>
              <a:cs typeface="Arial"/>
              <a:sym typeface="Arial"/>
            </a:endParaRPr>
          </a:p>
        </p:txBody>
      </p:sp>
      <p:sp>
        <p:nvSpPr>
          <p:cNvPr id="143" name="Google Shape;143;p7"/>
          <p:cNvSpPr txBox="1"/>
          <p:nvPr/>
        </p:nvSpPr>
        <p:spPr>
          <a:xfrm>
            <a:off x="6252009"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FFFFFF"/>
                </a:solidFill>
                <a:latin typeface="Assistant"/>
                <a:ea typeface="Assistant"/>
                <a:cs typeface="Assistant"/>
                <a:sym typeface="Assistant"/>
              </a:rPr>
              <a:t>הכנת נתונים</a:t>
            </a:r>
            <a:endParaRPr b="0" i="0" sz="1400" u="none" cap="none" strike="noStrike">
              <a:solidFill>
                <a:srgbClr val="000000"/>
              </a:solidFill>
              <a:latin typeface="Arial"/>
              <a:ea typeface="Arial"/>
              <a:cs typeface="Arial"/>
              <a:sym typeface="Arial"/>
            </a:endParaRPr>
          </a:p>
        </p:txBody>
      </p:sp>
      <p:sp>
        <p:nvSpPr>
          <p:cNvPr id="144" name="Google Shape;144;p7"/>
          <p:cNvSpPr txBox="1"/>
          <p:nvPr/>
        </p:nvSpPr>
        <p:spPr>
          <a:xfrm>
            <a:off x="4376073"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FFFFFF"/>
                </a:solidFill>
                <a:latin typeface="Assistant"/>
                <a:ea typeface="Assistant"/>
                <a:cs typeface="Assistant"/>
                <a:sym typeface="Assistant"/>
              </a:rPr>
              <a:t>עיבוד טרום מידול</a:t>
            </a:r>
            <a:endParaRPr b="0" i="0" sz="1400" u="none" cap="none" strike="noStrike">
              <a:solidFill>
                <a:srgbClr val="000000"/>
              </a:solidFill>
              <a:latin typeface="Arial"/>
              <a:ea typeface="Arial"/>
              <a:cs typeface="Arial"/>
              <a:sym typeface="Arial"/>
            </a:endParaRPr>
          </a:p>
        </p:txBody>
      </p:sp>
      <p:sp>
        <p:nvSpPr>
          <p:cNvPr id="145" name="Google Shape;145;p7"/>
          <p:cNvSpPr txBox="1"/>
          <p:nvPr/>
        </p:nvSpPr>
        <p:spPr>
          <a:xfrm>
            <a:off x="2500137"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FFFFFF"/>
                </a:solidFill>
                <a:latin typeface="Assistant"/>
                <a:ea typeface="Assistant"/>
                <a:cs typeface="Assistant"/>
                <a:sym typeface="Assistant"/>
              </a:rPr>
              <a:t>הרצת המודלים</a:t>
            </a:r>
            <a:endParaRPr b="0" i="0" sz="1400" u="none" cap="none" strike="noStrike">
              <a:solidFill>
                <a:srgbClr val="000000"/>
              </a:solidFill>
              <a:latin typeface="Arial"/>
              <a:ea typeface="Arial"/>
              <a:cs typeface="Arial"/>
              <a:sym typeface="Arial"/>
            </a:endParaRPr>
          </a:p>
        </p:txBody>
      </p:sp>
      <p:sp>
        <p:nvSpPr>
          <p:cNvPr id="146" name="Google Shape;146;p7"/>
          <p:cNvSpPr txBox="1"/>
          <p:nvPr/>
        </p:nvSpPr>
        <p:spPr>
          <a:xfrm>
            <a:off x="624200" y="3016150"/>
            <a:ext cx="1489800" cy="207900"/>
          </a:xfrm>
          <a:prstGeom prst="rect">
            <a:avLst/>
          </a:prstGeom>
          <a:noFill/>
          <a:ln>
            <a:noFill/>
          </a:ln>
        </p:spPr>
        <p:txBody>
          <a:bodyPr anchorCtr="0" anchor="t" bIns="0" lIns="0" spcFirstLastPara="1" rIns="0" wrap="square" tIns="0">
            <a:spAutoFit/>
          </a:bodyPr>
          <a:lstStyle/>
          <a:p>
            <a:pPr indent="0" lvl="0" marL="0" marR="0" rtl="0" algn="r">
              <a:lnSpc>
                <a:spcPct val="129925"/>
              </a:lnSpc>
              <a:spcBef>
                <a:spcPts val="0"/>
              </a:spcBef>
              <a:spcAft>
                <a:spcPts val="0"/>
              </a:spcAft>
              <a:buClr>
                <a:srgbClr val="000000"/>
              </a:buClr>
              <a:buSzPts val="1350"/>
              <a:buFont typeface="Arial"/>
              <a:buNone/>
            </a:pPr>
            <a:r>
              <a:rPr b="1" i="0" lang="en-US" sz="1350" u="none" cap="none" strike="noStrike">
                <a:solidFill>
                  <a:srgbClr val="F39C12"/>
                </a:solidFill>
                <a:latin typeface="Assistant"/>
                <a:ea typeface="Assistant"/>
                <a:cs typeface="Assistant"/>
                <a:sym typeface="Assistant"/>
              </a:rPr>
              <a:t>תוצר ומסקנות</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10074826" y="3587650"/>
            <a:ext cx="1285500" cy="226216"/>
          </a:xfrm>
          <a:prstGeom prst="rect">
            <a:avLst/>
          </a:prstGeom>
          <a:noFill/>
          <a:ln>
            <a:noFill/>
          </a:ln>
        </p:spPr>
        <p:txBody>
          <a:bodyPr anchorCtr="0" anchor="t" bIns="0" lIns="0" spcFirstLastPara="1" rIns="0" wrap="square" tIns="0">
            <a:spAutoFit/>
          </a:bodyPr>
          <a:lstStyle/>
          <a:p>
            <a:pPr indent="0" lvl="0" marL="0" marR="0" rtl="1"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קובצי  CSV</a:t>
            </a:r>
            <a:endParaRPr b="0" i="0" sz="1400" u="none" cap="none" strike="noStrike">
              <a:solidFill>
                <a:srgbClr val="000000"/>
              </a:solidFill>
              <a:latin typeface="Arial"/>
              <a:ea typeface="Arial"/>
              <a:cs typeface="Arial"/>
              <a:sym typeface="Arial"/>
            </a:endParaRPr>
          </a:p>
        </p:txBody>
      </p:sp>
      <p:sp>
        <p:nvSpPr>
          <p:cNvPr id="148" name="Google Shape;148;p7"/>
          <p:cNvSpPr txBox="1"/>
          <p:nvPr/>
        </p:nvSpPr>
        <p:spPr>
          <a:xfrm>
            <a:off x="10074826" y="3850481"/>
            <a:ext cx="1285500" cy="226216"/>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מאגרי מידע חיצוניים</a:t>
            </a:r>
            <a:endParaRPr b="0" i="0" sz="1400" u="none" cap="none" strike="noStrike">
              <a:solidFill>
                <a:srgbClr val="000000"/>
              </a:solidFill>
              <a:latin typeface="Arial"/>
              <a:ea typeface="Arial"/>
              <a:cs typeface="Arial"/>
              <a:sym typeface="Arial"/>
            </a:endParaRPr>
          </a:p>
        </p:txBody>
      </p:sp>
      <p:sp>
        <p:nvSpPr>
          <p:cNvPr id="149" name="Google Shape;149;p7"/>
          <p:cNvSpPr txBox="1"/>
          <p:nvPr/>
        </p:nvSpPr>
        <p:spPr>
          <a:xfrm>
            <a:off x="8198889" y="3587650"/>
            <a:ext cx="1285500" cy="452432"/>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יצירת קישוריות בין הקבצים  השונים</a:t>
            </a:r>
            <a:endParaRPr b="0" i="0" sz="1400" u="none" cap="none" strike="noStrike">
              <a:solidFill>
                <a:srgbClr val="000000"/>
              </a:solidFill>
              <a:latin typeface="Arial"/>
              <a:ea typeface="Arial"/>
              <a:cs typeface="Arial"/>
              <a:sym typeface="Arial"/>
            </a:endParaRPr>
          </a:p>
        </p:txBody>
      </p:sp>
      <p:sp>
        <p:nvSpPr>
          <p:cNvPr id="150" name="Google Shape;150;p7"/>
          <p:cNvSpPr txBox="1"/>
          <p:nvPr/>
        </p:nvSpPr>
        <p:spPr>
          <a:xfrm>
            <a:off x="6322953" y="3587650"/>
            <a:ext cx="1285500" cy="226216"/>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איחוד קבצים חלקי</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4507423" y="3777902"/>
            <a:ext cx="1285500" cy="3879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בנייה ויצירה של מטריקת משתני החיזוי</a:t>
            </a:r>
            <a:endParaRPr b="0" i="0" sz="1400" u="none" cap="none" strike="noStrike">
              <a:solidFill>
                <a:srgbClr val="000000"/>
              </a:solidFill>
              <a:latin typeface="Arial"/>
              <a:ea typeface="Arial"/>
              <a:cs typeface="Arial"/>
              <a:sym typeface="Arial"/>
            </a:endParaRPr>
          </a:p>
        </p:txBody>
      </p:sp>
      <p:sp>
        <p:nvSpPr>
          <p:cNvPr id="152" name="Google Shape;152;p7"/>
          <p:cNvSpPr txBox="1"/>
          <p:nvPr/>
        </p:nvSpPr>
        <p:spPr>
          <a:xfrm>
            <a:off x="2571080" y="3587650"/>
            <a:ext cx="1285500" cy="161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הרצת מודל בסיס</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2571080" y="3850481"/>
            <a:ext cx="1285500" cy="3879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הרצת מודל עצים מתקדם (Tree-based)</a:t>
            </a:r>
            <a:endParaRPr b="0" i="0" sz="1400" u="none" cap="none" strike="noStrike">
              <a:solidFill>
                <a:srgbClr val="000000"/>
              </a:solidFill>
              <a:latin typeface="Arial"/>
              <a:ea typeface="Arial"/>
              <a:cs typeface="Arial"/>
              <a:sym typeface="Arial"/>
            </a:endParaRPr>
          </a:p>
        </p:txBody>
      </p:sp>
      <p:sp>
        <p:nvSpPr>
          <p:cNvPr id="154" name="Google Shape;154;p7"/>
          <p:cNvSpPr txBox="1"/>
          <p:nvPr/>
        </p:nvSpPr>
        <p:spPr>
          <a:xfrm>
            <a:off x="695144" y="3587650"/>
            <a:ext cx="1285500" cy="161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השוואת מדדי ביצועים</a:t>
            </a:r>
            <a:endParaRPr b="0" i="0" sz="1400" u="none" cap="none" strike="noStrike">
              <a:solidFill>
                <a:srgbClr val="000000"/>
              </a:solidFill>
              <a:latin typeface="Arial"/>
              <a:ea typeface="Arial"/>
              <a:cs typeface="Arial"/>
              <a:sym typeface="Arial"/>
            </a:endParaRPr>
          </a:p>
        </p:txBody>
      </p:sp>
      <p:sp>
        <p:nvSpPr>
          <p:cNvPr id="155" name="Google Shape;155;p7"/>
          <p:cNvSpPr txBox="1"/>
          <p:nvPr/>
        </p:nvSpPr>
        <p:spPr>
          <a:xfrm>
            <a:off x="695144" y="3850481"/>
            <a:ext cx="1285500" cy="226216"/>
          </a:xfrm>
          <a:prstGeom prst="rect">
            <a:avLst/>
          </a:prstGeom>
          <a:noFill/>
          <a:ln>
            <a:noFill/>
          </a:ln>
        </p:spPr>
        <p:txBody>
          <a:bodyPr anchorCtr="0" anchor="t" bIns="0" lIns="0" spcFirstLastPara="1" rIns="0" wrap="square" tIns="0">
            <a:spAutoFit/>
          </a:bodyPr>
          <a:lstStyle/>
          <a:p>
            <a:pPr indent="0" lvl="0" marL="0" marR="0" rtl="1"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ייצוא פלטים וויזואליזציה</a:t>
            </a:r>
            <a:endParaRPr b="0" i="0" sz="1400" u="none" cap="none" strike="noStrike">
              <a:solidFill>
                <a:srgbClr val="000000"/>
              </a:solidFill>
              <a:latin typeface="Arial"/>
              <a:ea typeface="Arial"/>
              <a:cs typeface="Arial"/>
              <a:sym typeface="Arial"/>
            </a:endParaRPr>
          </a:p>
        </p:txBody>
      </p:sp>
      <p:sp>
        <p:nvSpPr>
          <p:cNvPr id="156" name="Google Shape;156;p7"/>
          <p:cNvSpPr txBox="1"/>
          <p:nvPr/>
        </p:nvSpPr>
        <p:spPr>
          <a:xfrm>
            <a:off x="11446068" y="3578125"/>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57" name="Google Shape;157;p7"/>
          <p:cNvSpPr txBox="1"/>
          <p:nvPr/>
        </p:nvSpPr>
        <p:spPr>
          <a:xfrm>
            <a:off x="11446068" y="3840956"/>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58" name="Google Shape;158;p7"/>
          <p:cNvSpPr txBox="1"/>
          <p:nvPr/>
        </p:nvSpPr>
        <p:spPr>
          <a:xfrm>
            <a:off x="9570132" y="3578125"/>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7694196" y="3578125"/>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0" name="Google Shape;160;p7"/>
          <p:cNvSpPr txBox="1"/>
          <p:nvPr/>
        </p:nvSpPr>
        <p:spPr>
          <a:xfrm>
            <a:off x="7694196" y="3840956"/>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1" name="Google Shape;161;p7"/>
          <p:cNvSpPr txBox="1"/>
          <p:nvPr/>
        </p:nvSpPr>
        <p:spPr>
          <a:xfrm>
            <a:off x="5836983" y="3298923"/>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3942323" y="3578125"/>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3" name="Google Shape;163;p7"/>
          <p:cNvSpPr txBox="1"/>
          <p:nvPr/>
        </p:nvSpPr>
        <p:spPr>
          <a:xfrm>
            <a:off x="3942323" y="3840956"/>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2066387" y="3578125"/>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5" name="Google Shape;165;p7"/>
          <p:cNvSpPr txBox="1"/>
          <p:nvPr/>
        </p:nvSpPr>
        <p:spPr>
          <a:xfrm>
            <a:off x="2066387" y="3840956"/>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6" name="Google Shape;166;p7"/>
          <p:cNvSpPr/>
          <p:nvPr/>
        </p:nvSpPr>
        <p:spPr>
          <a:xfrm>
            <a:off x="761802" y="3868638"/>
            <a:ext cx="10665300" cy="2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6359529" y="4228433"/>
            <a:ext cx="1285500" cy="226216"/>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הפקת סטטיסטיקות</a:t>
            </a:r>
            <a:endParaRPr b="0" i="0" sz="1400" u="none" cap="none" strike="noStrike">
              <a:solidFill>
                <a:srgbClr val="000000"/>
              </a:solidFill>
              <a:latin typeface="Arial"/>
              <a:ea typeface="Arial"/>
              <a:cs typeface="Arial"/>
              <a:sym typeface="Arial"/>
            </a:endParaRPr>
          </a:p>
        </p:txBody>
      </p:sp>
      <p:sp>
        <p:nvSpPr>
          <p:cNvPr id="168" name="Google Shape;168;p7"/>
          <p:cNvSpPr txBox="1"/>
          <p:nvPr/>
        </p:nvSpPr>
        <p:spPr>
          <a:xfrm>
            <a:off x="7730772" y="4218908"/>
            <a:ext cx="477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
        <p:nvSpPr>
          <p:cNvPr id="169" name="Google Shape;169;p7"/>
          <p:cNvSpPr txBox="1"/>
          <p:nvPr/>
        </p:nvSpPr>
        <p:spPr>
          <a:xfrm>
            <a:off x="6303928" y="3868638"/>
            <a:ext cx="1323492" cy="452432"/>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איחוד קבצים מלא ומילוי שדות</a:t>
            </a:r>
            <a:endParaRPr b="0" i="0" sz="1400" u="none" cap="none" strike="noStrike">
              <a:solidFill>
                <a:srgbClr val="000000"/>
              </a:solidFill>
              <a:latin typeface="Arial"/>
              <a:ea typeface="Arial"/>
              <a:cs typeface="Arial"/>
              <a:sym typeface="Arial"/>
            </a:endParaRPr>
          </a:p>
        </p:txBody>
      </p:sp>
      <p:sp>
        <p:nvSpPr>
          <p:cNvPr id="170" name="Google Shape;170;p7"/>
          <p:cNvSpPr txBox="1"/>
          <p:nvPr/>
        </p:nvSpPr>
        <p:spPr>
          <a:xfrm>
            <a:off x="4489888" y="3341333"/>
            <a:ext cx="1285500" cy="452432"/>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0"/>
              <a:buFont typeface="Arial"/>
              <a:buNone/>
            </a:pPr>
            <a:r>
              <a:rPr b="0" i="0" lang="en-US" sz="1050" u="none" cap="none" strike="noStrike">
                <a:solidFill>
                  <a:srgbClr val="CBD5E1"/>
                </a:solidFill>
                <a:latin typeface="Assistant"/>
                <a:ea typeface="Assistant"/>
                <a:cs typeface="Assistant"/>
                <a:sym typeface="Assistant"/>
              </a:rPr>
              <a:t>ניקוי נתונים, טיפול בערכים חסרים</a:t>
            </a:r>
            <a:endParaRPr b="0" i="0" sz="1400" u="none" cap="none" strike="noStrike">
              <a:solidFill>
                <a:srgbClr val="000000"/>
              </a:solidFill>
              <a:latin typeface="Arial"/>
              <a:ea typeface="Arial"/>
              <a:cs typeface="Arial"/>
              <a:sym typeface="Arial"/>
            </a:endParaRPr>
          </a:p>
        </p:txBody>
      </p:sp>
      <p:sp>
        <p:nvSpPr>
          <p:cNvPr id="171" name="Google Shape;171;p7"/>
          <p:cNvSpPr txBox="1"/>
          <p:nvPr/>
        </p:nvSpPr>
        <p:spPr>
          <a:xfrm>
            <a:off x="5848739" y="3764815"/>
            <a:ext cx="47700" cy="258532"/>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F39C12"/>
                </a:solidFill>
                <a:latin typeface="Assistant"/>
                <a:ea typeface="Assistant"/>
                <a:cs typeface="Assistant"/>
                <a:sym typeface="Assistant"/>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image.png" id="176" name="Google Shape;176;p8"/>
          <p:cNvPicPr preferRelativeResize="0"/>
          <p:nvPr/>
        </p:nvPicPr>
        <p:blipFill rotWithShape="1">
          <a:blip r:embed="rId3">
            <a:alphaModFix/>
          </a:blip>
          <a:srcRect b="0" l="0" r="0" t="0"/>
          <a:stretch/>
        </p:blipFill>
        <p:spPr>
          <a:xfrm>
            <a:off x="0" y="0"/>
            <a:ext cx="12188826" cy="6856214"/>
          </a:xfrm>
          <a:prstGeom prst="rect">
            <a:avLst/>
          </a:prstGeom>
          <a:noFill/>
          <a:ln>
            <a:noFill/>
          </a:ln>
        </p:spPr>
      </p:pic>
      <p:pic>
        <p:nvPicPr>
          <p:cNvPr descr="image.png" id="177" name="Google Shape;177;p8"/>
          <p:cNvPicPr preferRelativeResize="0"/>
          <p:nvPr/>
        </p:nvPicPr>
        <p:blipFill rotWithShape="1">
          <a:blip r:embed="rId4">
            <a:alphaModFix/>
          </a:blip>
          <a:srcRect b="0" l="0" r="0" t="0"/>
          <a:stretch/>
        </p:blipFill>
        <p:spPr>
          <a:xfrm>
            <a:off x="6284800" y="1647825"/>
            <a:ext cx="5332600" cy="4991676"/>
          </a:xfrm>
          <a:prstGeom prst="rect">
            <a:avLst/>
          </a:prstGeom>
          <a:noFill/>
          <a:ln>
            <a:noFill/>
          </a:ln>
        </p:spPr>
      </p:pic>
      <p:pic>
        <p:nvPicPr>
          <p:cNvPr descr="image.png" id="178" name="Google Shape;178;p8"/>
          <p:cNvPicPr preferRelativeResize="0"/>
          <p:nvPr/>
        </p:nvPicPr>
        <p:blipFill rotWithShape="1">
          <a:blip r:embed="rId5">
            <a:alphaModFix/>
          </a:blip>
          <a:srcRect b="0" l="0" r="0" t="0"/>
          <a:stretch/>
        </p:blipFill>
        <p:spPr>
          <a:xfrm>
            <a:off x="558785" y="1647825"/>
            <a:ext cx="5332611" cy="4199431"/>
          </a:xfrm>
          <a:prstGeom prst="rect">
            <a:avLst/>
          </a:prstGeom>
          <a:noFill/>
          <a:ln>
            <a:noFill/>
          </a:ln>
        </p:spPr>
      </p:pic>
      <p:sp>
        <p:nvSpPr>
          <p:cNvPr id="179" name="Google Shape;179;p8"/>
          <p:cNvSpPr/>
          <p:nvPr/>
        </p:nvSpPr>
        <p:spPr>
          <a:xfrm>
            <a:off x="0" y="6781800"/>
            <a:ext cx="12188700" cy="7620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txBox="1"/>
          <p:nvPr/>
        </p:nvSpPr>
        <p:spPr>
          <a:xfrm>
            <a:off x="295198" y="742950"/>
            <a:ext cx="11598600" cy="4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Assistant"/>
                <a:ea typeface="Assistant"/>
                <a:cs typeface="Assistant"/>
                <a:sym typeface="Assistant"/>
              </a:rPr>
              <a:t>מה צריך כדי להפעיל את זה?</a:t>
            </a:r>
            <a:endParaRPr b="0" i="0" sz="1400" u="none" cap="none" strike="noStrike">
              <a:solidFill>
                <a:srgbClr val="000000"/>
              </a:solidFill>
              <a:latin typeface="Arial"/>
              <a:ea typeface="Arial"/>
              <a:cs typeface="Arial"/>
              <a:sym typeface="Arial"/>
            </a:endParaRPr>
          </a:p>
        </p:txBody>
      </p:sp>
      <p:sp>
        <p:nvSpPr>
          <p:cNvPr id="181" name="Google Shape;181;p8"/>
          <p:cNvSpPr txBox="1"/>
          <p:nvPr/>
        </p:nvSpPr>
        <p:spPr>
          <a:xfrm>
            <a:off x="10484294" y="476250"/>
            <a:ext cx="11331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39C12"/>
                </a:solidFill>
                <a:latin typeface="Assistant"/>
                <a:ea typeface="Assistant"/>
                <a:cs typeface="Assistant"/>
                <a:sym typeface="Assistant"/>
              </a:rPr>
              <a:t>דרישות מערכת</a:t>
            </a:r>
            <a:endParaRPr b="0" i="0" sz="1400" u="none" cap="none" strike="noStrike">
              <a:solidFill>
                <a:srgbClr val="000000"/>
              </a:solidFill>
              <a:latin typeface="Arial"/>
              <a:ea typeface="Arial"/>
              <a:cs typeface="Arial"/>
              <a:sym typeface="Arial"/>
            </a:endParaRPr>
          </a:p>
        </p:txBody>
      </p:sp>
      <p:sp>
        <p:nvSpPr>
          <p:cNvPr id="182" name="Google Shape;182;p8"/>
          <p:cNvSpPr txBox="1"/>
          <p:nvPr/>
        </p:nvSpPr>
        <p:spPr>
          <a:xfrm>
            <a:off x="571351" y="485775"/>
            <a:ext cx="7200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D2FF"/>
                </a:solidFill>
                <a:latin typeface="Arial"/>
                <a:ea typeface="Arial"/>
                <a:cs typeface="Arial"/>
                <a:sym typeface="Arial"/>
              </a:rPr>
              <a:t>05 / 10</a:t>
            </a:r>
            <a:endParaRPr b="0" i="0" sz="1400" u="none" cap="none" strike="noStrike">
              <a:solidFill>
                <a:srgbClr val="000000"/>
              </a:solidFill>
              <a:latin typeface="Arial"/>
              <a:ea typeface="Arial"/>
              <a:cs typeface="Arial"/>
              <a:sym typeface="Arial"/>
            </a:endParaRPr>
          </a:p>
        </p:txBody>
      </p:sp>
      <p:pic>
        <p:nvPicPr>
          <p:cNvPr descr="image.png" id="183" name="Google Shape;183;p8"/>
          <p:cNvPicPr preferRelativeResize="0"/>
          <p:nvPr/>
        </p:nvPicPr>
        <p:blipFill rotWithShape="1">
          <a:blip r:embed="rId6">
            <a:alphaModFix/>
          </a:blip>
          <a:srcRect b="0" l="0" r="0" t="0"/>
          <a:stretch/>
        </p:blipFill>
        <p:spPr>
          <a:xfrm>
            <a:off x="10760447" y="2028825"/>
            <a:ext cx="514216" cy="514216"/>
          </a:xfrm>
          <a:prstGeom prst="rect">
            <a:avLst/>
          </a:prstGeom>
          <a:noFill/>
          <a:ln>
            <a:noFill/>
          </a:ln>
        </p:spPr>
      </p:pic>
      <p:sp>
        <p:nvSpPr>
          <p:cNvPr id="184" name="Google Shape;184;p8"/>
          <p:cNvSpPr txBox="1"/>
          <p:nvPr/>
        </p:nvSpPr>
        <p:spPr>
          <a:xfrm>
            <a:off x="8636925" y="2124075"/>
            <a:ext cx="2079600" cy="3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950"/>
              <a:buFont typeface="Arial"/>
              <a:buNone/>
            </a:pPr>
            <a:r>
              <a:rPr b="1" i="0" lang="en-US" sz="1950" u="none" cap="none" strike="noStrike">
                <a:solidFill>
                  <a:srgbClr val="FFFFFF"/>
                </a:solidFill>
                <a:latin typeface="Assistant"/>
                <a:ea typeface="Assistant"/>
                <a:cs typeface="Assistant"/>
                <a:sym typeface="Assistant"/>
              </a:rPr>
              <a:t>סוגי המידע הדרושים</a:t>
            </a:r>
            <a:endParaRPr b="0" i="0" sz="1400" u="none" cap="none" strike="noStrike">
              <a:solidFill>
                <a:srgbClr val="000000"/>
              </a:solidFill>
              <a:latin typeface="Arial"/>
              <a:ea typeface="Arial"/>
              <a:cs typeface="Arial"/>
              <a:sym typeface="Arial"/>
            </a:endParaRPr>
          </a:p>
        </p:txBody>
      </p:sp>
      <p:sp>
        <p:nvSpPr>
          <p:cNvPr id="185" name="Google Shape;185;p8"/>
          <p:cNvSpPr txBox="1"/>
          <p:nvPr/>
        </p:nvSpPr>
        <p:spPr>
          <a:xfrm>
            <a:off x="6894304" y="2710813"/>
            <a:ext cx="4380300" cy="1384995"/>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מקורות מידע היסטוריים:</a:t>
            </a:r>
            <a:r>
              <a:rPr b="0" i="0" lang="en-US" sz="2000" u="none" cap="none" strike="noStrike">
                <a:solidFill>
                  <a:srgbClr val="CBD5E1"/>
                </a:solidFill>
                <a:latin typeface="Assistant"/>
                <a:ea typeface="Assistant"/>
                <a:cs typeface="Assistant"/>
                <a:sym typeface="Assistant"/>
              </a:rPr>
              <a:t> ייבוא ושימוש ב-</a:t>
            </a:r>
            <a:r>
              <a:rPr b="0" i="0" lang="en-US" sz="2000" u="none" cap="none" strike="noStrike">
                <a:solidFill>
                  <a:srgbClr val="FFFFFF"/>
                </a:solidFill>
                <a:latin typeface="Assistant SemiBold"/>
                <a:ea typeface="Assistant SemiBold"/>
                <a:cs typeface="Assistant SemiBold"/>
                <a:sym typeface="Assistant SemiBold"/>
              </a:rPr>
              <a:t>8 קבצי נתונים היסטוריים</a:t>
            </a:r>
            <a:r>
              <a:rPr b="0" i="0" lang="en-US" sz="2000" u="none" cap="none" strike="noStrike">
                <a:solidFill>
                  <a:srgbClr val="CBD5E1"/>
                </a:solidFill>
                <a:latin typeface="Assistant"/>
                <a:ea typeface="Assistant"/>
                <a:cs typeface="Assistant"/>
                <a:sym typeface="Assistant"/>
              </a:rPr>
              <a:t> מובנים ממספר מאגרים. </a:t>
            </a:r>
            <a:endParaRPr b="0" i="0" sz="2000" u="none" cap="none" strike="noStrike">
              <a:solidFill>
                <a:srgbClr val="000000"/>
              </a:solidFill>
              <a:latin typeface="Arial"/>
              <a:ea typeface="Arial"/>
              <a:cs typeface="Arial"/>
              <a:sym typeface="Arial"/>
            </a:endParaRPr>
          </a:p>
        </p:txBody>
      </p:sp>
      <p:sp>
        <p:nvSpPr>
          <p:cNvPr id="186" name="Google Shape;186;p8"/>
          <p:cNvSpPr txBox="1"/>
          <p:nvPr/>
        </p:nvSpPr>
        <p:spPr>
          <a:xfrm>
            <a:off x="6465750" y="4046675"/>
            <a:ext cx="4780500" cy="1384995"/>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קישוריות וקשרים:</a:t>
            </a:r>
            <a:r>
              <a:rPr b="0" i="0" lang="en-US" sz="2000" u="none" cap="none" strike="noStrike">
                <a:solidFill>
                  <a:srgbClr val="CBD5E1"/>
                </a:solidFill>
                <a:latin typeface="Assistant"/>
                <a:ea typeface="Assistant"/>
                <a:cs typeface="Assistant"/>
                <a:sym typeface="Assistant"/>
              </a:rPr>
              <a:t> קבצים מקושרים בצורה מלאה באמצעות מפתח משותף</a:t>
            </a:r>
            <a:br>
              <a:rPr b="0" i="0" lang="en-US" sz="2000" u="none" cap="none" strike="noStrike">
                <a:solidFill>
                  <a:srgbClr val="CBD5E1"/>
                </a:solidFill>
                <a:latin typeface="Assistant"/>
                <a:ea typeface="Assistant"/>
                <a:cs typeface="Assistant"/>
                <a:sym typeface="Assistant"/>
              </a:rPr>
            </a:br>
            <a:r>
              <a:rPr b="0" i="0" lang="en-US" sz="2000" u="none" cap="none" strike="noStrike">
                <a:solidFill>
                  <a:srgbClr val="CBD5E1"/>
                </a:solidFill>
                <a:latin typeface="Assistant"/>
                <a:ea typeface="Assistant"/>
                <a:cs typeface="Assistant"/>
                <a:sym typeface="Assistant"/>
              </a:rPr>
              <a:t>Location_key, Location_Key+Country_Code</a:t>
            </a:r>
            <a:endParaRPr b="0" i="0" sz="2000" u="none" cap="none" strike="noStrike">
              <a:solidFill>
                <a:srgbClr val="000000"/>
              </a:solidFill>
              <a:latin typeface="Arial"/>
              <a:ea typeface="Arial"/>
              <a:cs typeface="Arial"/>
              <a:sym typeface="Arial"/>
            </a:endParaRPr>
          </a:p>
        </p:txBody>
      </p:sp>
      <p:sp>
        <p:nvSpPr>
          <p:cNvPr id="187" name="Google Shape;187;p8"/>
          <p:cNvSpPr txBox="1"/>
          <p:nvPr/>
        </p:nvSpPr>
        <p:spPr>
          <a:xfrm>
            <a:off x="6846750" y="5431670"/>
            <a:ext cx="4380300" cy="923330"/>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פורמט קלט נתמך:</a:t>
            </a:r>
            <a:r>
              <a:rPr b="0" i="0" lang="en-US" sz="2000" u="none" cap="none" strike="noStrike">
                <a:solidFill>
                  <a:srgbClr val="CBD5E1"/>
                </a:solidFill>
                <a:latin typeface="Assistant"/>
                <a:ea typeface="Assistant"/>
                <a:cs typeface="Assistant"/>
                <a:sym typeface="Assistant"/>
              </a:rPr>
              <a:t> תמיכה מלאה בנתונים טבלאיים לדוגמא CSV </a:t>
            </a:r>
            <a:endParaRPr b="0" i="0" sz="2000" u="none" cap="none" strike="noStrike">
              <a:solidFill>
                <a:srgbClr val="000000"/>
              </a:solidFill>
              <a:latin typeface="Arial"/>
              <a:ea typeface="Arial"/>
              <a:cs typeface="Arial"/>
              <a:sym typeface="Arial"/>
            </a:endParaRPr>
          </a:p>
        </p:txBody>
      </p:sp>
      <p:pic>
        <p:nvPicPr>
          <p:cNvPr descr="image.png" id="188" name="Google Shape;188;p8"/>
          <p:cNvPicPr preferRelativeResize="0"/>
          <p:nvPr/>
        </p:nvPicPr>
        <p:blipFill rotWithShape="1">
          <a:blip r:embed="rId7">
            <a:alphaModFix/>
          </a:blip>
          <a:srcRect b="0" l="0" r="0" t="0"/>
          <a:stretch/>
        </p:blipFill>
        <p:spPr>
          <a:xfrm>
            <a:off x="5046935" y="2028825"/>
            <a:ext cx="514216" cy="514216"/>
          </a:xfrm>
          <a:prstGeom prst="rect">
            <a:avLst/>
          </a:prstGeom>
          <a:noFill/>
          <a:ln>
            <a:noFill/>
          </a:ln>
        </p:spPr>
      </p:pic>
      <p:sp>
        <p:nvSpPr>
          <p:cNvPr id="189" name="Google Shape;189;p8"/>
          <p:cNvSpPr txBox="1"/>
          <p:nvPr/>
        </p:nvSpPr>
        <p:spPr>
          <a:xfrm>
            <a:off x="2104477" y="2124075"/>
            <a:ext cx="2939400" cy="300300"/>
          </a:xfrm>
          <a:prstGeom prst="rect">
            <a:avLst/>
          </a:prstGeom>
          <a:noFill/>
          <a:ln>
            <a:noFill/>
          </a:ln>
        </p:spPr>
        <p:txBody>
          <a:bodyPr anchorCtr="0" anchor="t" bIns="0" lIns="0" spcFirstLastPara="1" rIns="0" wrap="square" tIns="0">
            <a:spAutoFit/>
          </a:bodyPr>
          <a:lstStyle/>
          <a:p>
            <a:pPr indent="0" lvl="0" marL="0" marR="0" rtl="1" algn="r">
              <a:lnSpc>
                <a:spcPct val="100000"/>
              </a:lnSpc>
              <a:spcBef>
                <a:spcPts val="0"/>
              </a:spcBef>
              <a:spcAft>
                <a:spcPts val="0"/>
              </a:spcAft>
              <a:buClr>
                <a:srgbClr val="000000"/>
              </a:buClr>
              <a:buSzPts val="1950"/>
              <a:buFont typeface="Arial"/>
              <a:buNone/>
            </a:pPr>
            <a:r>
              <a:rPr b="1" i="0" lang="en-US" sz="1950" u="none" cap="none" strike="noStrike">
                <a:solidFill>
                  <a:srgbClr val="FFFFFF"/>
                </a:solidFill>
                <a:latin typeface="Assistant"/>
                <a:ea typeface="Assistant"/>
                <a:cs typeface="Assistant"/>
                <a:sym typeface="Assistant"/>
              </a:rPr>
              <a:t>דרישות הפעלה</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844436" y="2730924"/>
            <a:ext cx="4342200" cy="923330"/>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סוג הריצה:</a:t>
            </a:r>
            <a:r>
              <a:rPr b="0" i="0" lang="en-US" sz="2000" u="none" cap="none" strike="noStrike">
                <a:solidFill>
                  <a:srgbClr val="CBD5E1"/>
                </a:solidFill>
                <a:latin typeface="Assistant"/>
                <a:ea typeface="Assistant"/>
                <a:cs typeface="Assistant"/>
                <a:sym typeface="Assistant"/>
              </a:rPr>
              <a:t>   ריצת קוד פייתון דרך Google Colab </a:t>
            </a:r>
            <a:endParaRPr b="0" i="0" sz="2000" u="none" cap="none" strike="noStrike">
              <a:solidFill>
                <a:srgbClr val="000000"/>
              </a:solidFill>
              <a:latin typeface="Arial"/>
              <a:ea typeface="Arial"/>
              <a:cs typeface="Arial"/>
              <a:sym typeface="Arial"/>
            </a:endParaRPr>
          </a:p>
        </p:txBody>
      </p:sp>
      <p:sp>
        <p:nvSpPr>
          <p:cNvPr id="191" name="Google Shape;191;p8"/>
          <p:cNvSpPr txBox="1"/>
          <p:nvPr/>
        </p:nvSpPr>
        <p:spPr>
          <a:xfrm>
            <a:off x="825378" y="3705092"/>
            <a:ext cx="4380300" cy="461665"/>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תזמון וקצב עדכון:</a:t>
            </a:r>
            <a:r>
              <a:rPr b="0" i="0" lang="en-US" sz="2000" u="none" cap="none" strike="noStrike">
                <a:solidFill>
                  <a:srgbClr val="CBD5E1"/>
                </a:solidFill>
                <a:latin typeface="Assistant"/>
                <a:ea typeface="Assistant"/>
                <a:cs typeface="Assistant"/>
                <a:sym typeface="Assistant"/>
              </a:rPr>
              <a:t>  הרצה עפ"י דרישה</a:t>
            </a:r>
            <a:endParaRPr b="0" i="0" sz="2000" u="none" cap="none" strike="noStrike">
              <a:solidFill>
                <a:srgbClr val="000000"/>
              </a:solidFill>
              <a:latin typeface="Arial"/>
              <a:ea typeface="Arial"/>
              <a:cs typeface="Arial"/>
              <a:sym typeface="Arial"/>
            </a:endParaRPr>
          </a:p>
        </p:txBody>
      </p:sp>
      <p:sp>
        <p:nvSpPr>
          <p:cNvPr id="192" name="Google Shape;192;p8"/>
          <p:cNvSpPr txBox="1"/>
          <p:nvPr/>
        </p:nvSpPr>
        <p:spPr>
          <a:xfrm>
            <a:off x="863478" y="4286845"/>
            <a:ext cx="4342200" cy="923330"/>
          </a:xfrm>
          <a:prstGeom prst="rect">
            <a:avLst/>
          </a:prstGeom>
          <a:noFill/>
          <a:ln>
            <a:noFill/>
          </a:ln>
        </p:spPr>
        <p:txBody>
          <a:bodyPr anchorCtr="0" anchor="t" bIns="0" lIns="0" spcFirstLastPara="1" rIns="0" wrap="square" tIns="0">
            <a:spAutoFit/>
          </a:bodyPr>
          <a:lstStyle/>
          <a:p>
            <a:pPr indent="0" lvl="0" marL="0" marR="0" rtl="1" algn="r">
              <a:lnSpc>
                <a:spcPct val="150000"/>
              </a:lnSpc>
              <a:spcBef>
                <a:spcPts val="0"/>
              </a:spcBef>
              <a:spcAft>
                <a:spcPts val="0"/>
              </a:spcAft>
              <a:buClr>
                <a:srgbClr val="000000"/>
              </a:buClr>
              <a:buSzPts val="1350"/>
              <a:buFont typeface="Arial"/>
              <a:buNone/>
            </a:pPr>
            <a:r>
              <a:rPr b="0" i="0" lang="en-US" sz="2000" u="none" cap="none" strike="noStrike">
                <a:solidFill>
                  <a:srgbClr val="CBD5E1"/>
                </a:solidFill>
                <a:latin typeface="Assistant"/>
                <a:ea typeface="Assistant"/>
                <a:cs typeface="Assistant"/>
                <a:sym typeface="Assistant"/>
              </a:rPr>
              <a:t> </a:t>
            </a:r>
            <a:r>
              <a:rPr b="0" i="0" lang="en-US" sz="2000" u="none" cap="none" strike="noStrike">
                <a:solidFill>
                  <a:srgbClr val="FFFFFF"/>
                </a:solidFill>
                <a:latin typeface="Assistant SemiBold"/>
                <a:ea typeface="Assistant SemiBold"/>
                <a:cs typeface="Assistant SemiBold"/>
                <a:sym typeface="Assistant SemiBold"/>
              </a:rPr>
              <a:t>ממשק הפעלה לפי דרישה:</a:t>
            </a:r>
            <a:r>
              <a:rPr b="0" i="0" lang="en-US" sz="2000" u="none" cap="none" strike="noStrike">
                <a:solidFill>
                  <a:srgbClr val="CBD5E1"/>
                </a:solidFill>
                <a:latin typeface="Assistant"/>
                <a:ea typeface="Assistant"/>
                <a:cs typeface="Assistant"/>
                <a:sym typeface="Assistant"/>
              </a:rPr>
              <a:t> אפשרות עתידית לטריגר מיידי וקריאה מבוססת ממשק</a:t>
            </a:r>
            <a:r>
              <a:rPr b="0" i="0" lang="en-US" sz="1350" u="none" cap="none" strike="noStrike">
                <a:solidFill>
                  <a:srgbClr val="CBD5E1"/>
                </a:solidFill>
                <a:latin typeface="Assistant"/>
                <a:ea typeface="Assistant"/>
                <a:cs typeface="Assistant"/>
                <a:sym typeface="Assistant"/>
              </a:rPr>
              <a:t> </a:t>
            </a:r>
            <a:endParaRPr b="0" i="0" sz="1400" u="none" cap="none" strike="noStrike">
              <a:solidFill>
                <a:srgbClr val="000000"/>
              </a:solidFill>
              <a:latin typeface="Arial"/>
              <a:ea typeface="Arial"/>
              <a:cs typeface="Arial"/>
              <a:sym typeface="Arial"/>
            </a:endParaRPr>
          </a:p>
        </p:txBody>
      </p:sp>
      <p:pic>
        <p:nvPicPr>
          <p:cNvPr descr="image.png" id="193" name="Google Shape;193;p8"/>
          <p:cNvPicPr preferRelativeResize="0"/>
          <p:nvPr/>
        </p:nvPicPr>
        <p:blipFill rotWithShape="1">
          <a:blip r:embed="rId8">
            <a:alphaModFix/>
          </a:blip>
          <a:srcRect b="0" l="0" r="0" t="0"/>
          <a:stretch/>
        </p:blipFill>
        <p:spPr>
          <a:xfrm>
            <a:off x="10917568" y="2171700"/>
            <a:ext cx="199973" cy="228600"/>
          </a:xfrm>
          <a:prstGeom prst="rect">
            <a:avLst/>
          </a:prstGeom>
          <a:noFill/>
          <a:ln>
            <a:noFill/>
          </a:ln>
        </p:spPr>
      </p:pic>
      <p:pic>
        <p:nvPicPr>
          <p:cNvPr descr="image.png" id="194" name="Google Shape;194;p8"/>
          <p:cNvPicPr preferRelativeResize="0"/>
          <p:nvPr/>
        </p:nvPicPr>
        <p:blipFill rotWithShape="1">
          <a:blip r:embed="rId9">
            <a:alphaModFix/>
          </a:blip>
          <a:srcRect b="0" l="0" r="0" t="0"/>
          <a:stretch/>
        </p:blipFill>
        <p:spPr>
          <a:xfrm>
            <a:off x="5189773" y="2171700"/>
            <a:ext cx="228540" cy="228540"/>
          </a:xfrm>
          <a:prstGeom prst="rect">
            <a:avLst/>
          </a:prstGeom>
          <a:noFill/>
          <a:ln>
            <a:noFill/>
          </a:ln>
        </p:spPr>
      </p:pic>
      <p:pic>
        <p:nvPicPr>
          <p:cNvPr descr="image.png" id="195" name="Google Shape;195;p8"/>
          <p:cNvPicPr preferRelativeResize="0"/>
          <p:nvPr/>
        </p:nvPicPr>
        <p:blipFill rotWithShape="1">
          <a:blip r:embed="rId10">
            <a:alphaModFix/>
          </a:blip>
          <a:srcRect b="0" l="0" r="0" t="0"/>
          <a:stretch/>
        </p:blipFill>
        <p:spPr>
          <a:xfrm>
            <a:off x="11274678" y="2781350"/>
            <a:ext cx="152360" cy="152360"/>
          </a:xfrm>
          <a:prstGeom prst="rect">
            <a:avLst/>
          </a:prstGeom>
          <a:noFill/>
          <a:ln>
            <a:noFill/>
          </a:ln>
        </p:spPr>
      </p:pic>
      <p:pic>
        <p:nvPicPr>
          <p:cNvPr descr="image.png" id="196" name="Google Shape;196;p8"/>
          <p:cNvPicPr preferRelativeResize="0"/>
          <p:nvPr/>
        </p:nvPicPr>
        <p:blipFill rotWithShape="1">
          <a:blip r:embed="rId10">
            <a:alphaModFix/>
          </a:blip>
          <a:srcRect b="0" l="0" r="0" t="0"/>
          <a:stretch/>
        </p:blipFill>
        <p:spPr>
          <a:xfrm>
            <a:off x="11274700" y="4083875"/>
            <a:ext cx="152350" cy="152331"/>
          </a:xfrm>
          <a:prstGeom prst="rect">
            <a:avLst/>
          </a:prstGeom>
          <a:noFill/>
          <a:ln>
            <a:noFill/>
          </a:ln>
        </p:spPr>
      </p:pic>
      <p:pic>
        <p:nvPicPr>
          <p:cNvPr descr="image.png" id="197" name="Google Shape;197;p8"/>
          <p:cNvPicPr preferRelativeResize="0"/>
          <p:nvPr/>
        </p:nvPicPr>
        <p:blipFill rotWithShape="1">
          <a:blip r:embed="rId11">
            <a:alphaModFix/>
          </a:blip>
          <a:srcRect b="0" l="0" r="0" t="0"/>
          <a:stretch/>
        </p:blipFill>
        <p:spPr>
          <a:xfrm>
            <a:off x="5396132" y="2948611"/>
            <a:ext cx="171405" cy="152360"/>
          </a:xfrm>
          <a:prstGeom prst="rect">
            <a:avLst/>
          </a:prstGeom>
          <a:noFill/>
          <a:ln>
            <a:noFill/>
          </a:ln>
        </p:spPr>
      </p:pic>
      <p:pic>
        <p:nvPicPr>
          <p:cNvPr descr="image.png" id="198" name="Google Shape;198;p8"/>
          <p:cNvPicPr preferRelativeResize="0"/>
          <p:nvPr/>
        </p:nvPicPr>
        <p:blipFill rotWithShape="1">
          <a:blip r:embed="rId12">
            <a:alphaModFix/>
          </a:blip>
          <a:srcRect b="0" l="0" r="0" t="0"/>
          <a:stretch/>
        </p:blipFill>
        <p:spPr>
          <a:xfrm>
            <a:off x="5319952" y="3770479"/>
            <a:ext cx="152360" cy="152360"/>
          </a:xfrm>
          <a:prstGeom prst="rect">
            <a:avLst/>
          </a:prstGeom>
          <a:noFill/>
          <a:ln>
            <a:noFill/>
          </a:ln>
        </p:spPr>
      </p:pic>
      <p:pic>
        <p:nvPicPr>
          <p:cNvPr descr="image.png" id="199" name="Google Shape;199;p8"/>
          <p:cNvPicPr preferRelativeResize="0"/>
          <p:nvPr/>
        </p:nvPicPr>
        <p:blipFill rotWithShape="1">
          <a:blip r:embed="rId13">
            <a:alphaModFix/>
          </a:blip>
          <a:srcRect b="0" l="0" r="0" t="0"/>
          <a:stretch/>
        </p:blipFill>
        <p:spPr>
          <a:xfrm>
            <a:off x="5323762" y="4455949"/>
            <a:ext cx="190450" cy="152360"/>
          </a:xfrm>
          <a:prstGeom prst="rect">
            <a:avLst/>
          </a:prstGeom>
          <a:noFill/>
          <a:ln>
            <a:noFill/>
          </a:ln>
        </p:spPr>
      </p:pic>
      <p:pic>
        <p:nvPicPr>
          <p:cNvPr descr="image.png" id="200" name="Google Shape;200;p8"/>
          <p:cNvPicPr preferRelativeResize="0"/>
          <p:nvPr/>
        </p:nvPicPr>
        <p:blipFill rotWithShape="1">
          <a:blip r:embed="rId10">
            <a:alphaModFix/>
          </a:blip>
          <a:srcRect b="0" l="0" r="0" t="0"/>
          <a:stretch/>
        </p:blipFill>
        <p:spPr>
          <a:xfrm>
            <a:off x="11274678" y="5633713"/>
            <a:ext cx="152360" cy="1523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5" name="Shape 205"/>
        <p:cNvGrpSpPr/>
        <p:nvPr/>
      </p:nvGrpSpPr>
      <p:grpSpPr>
        <a:xfrm>
          <a:off x="0" y="0"/>
          <a:ext cx="0" cy="0"/>
          <a:chOff x="0" y="0"/>
          <a:chExt cx="0" cy="0"/>
        </a:xfrm>
      </p:grpSpPr>
      <p:sp>
        <p:nvSpPr>
          <p:cNvPr id="206" name="Google Shape;206;p9"/>
          <p:cNvSpPr/>
          <p:nvPr/>
        </p:nvSpPr>
        <p:spPr>
          <a:xfrm>
            <a:off x="0" y="6492240"/>
            <a:ext cx="12188952" cy="91440"/>
          </a:xfrm>
          <a:prstGeom prst="rect">
            <a:avLst/>
          </a:pr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9"/>
          <p:cNvSpPr/>
          <p:nvPr/>
        </p:nvSpPr>
        <p:spPr>
          <a:xfrm>
            <a:off x="457200" y="599125"/>
            <a:ext cx="9601200" cy="914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Baseline התוצאות שהתקבלו מול</a:t>
            </a:r>
            <a:endParaRPr b="0" i="0" sz="2800" u="none" cap="none" strike="noStrike">
              <a:solidFill>
                <a:schemeClr val="dk1"/>
              </a:solidFill>
              <a:latin typeface="Calibri"/>
              <a:ea typeface="Calibri"/>
              <a:cs typeface="Calibri"/>
              <a:sym typeface="Calibri"/>
            </a:endParaRPr>
          </a:p>
        </p:txBody>
      </p:sp>
      <p:sp>
        <p:nvSpPr>
          <p:cNvPr id="208" name="Google Shape;208;p9"/>
          <p:cNvSpPr/>
          <p:nvPr/>
        </p:nvSpPr>
        <p:spPr>
          <a:xfrm>
            <a:off x="457200" y="233425"/>
            <a:ext cx="9601200" cy="365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59E0B"/>
              </a:buClr>
              <a:buSzPts val="1100"/>
              <a:buFont typeface="Arial"/>
              <a:buNone/>
            </a:pPr>
            <a:r>
              <a:rPr b="1" i="0" lang="en-US" sz="1100" u="none" cap="none" strike="noStrike">
                <a:solidFill>
                  <a:srgbClr val="F59E0B"/>
                </a:solidFill>
                <a:latin typeface="Arial"/>
                <a:ea typeface="Arial"/>
                <a:cs typeface="Arial"/>
                <a:sym typeface="Arial"/>
              </a:rPr>
              <a:t>תוצאות ומדדים</a:t>
            </a:r>
            <a:endParaRPr b="0" i="0" sz="1100" u="none" cap="none" strike="noStrike">
              <a:solidFill>
                <a:schemeClr val="dk1"/>
              </a:solidFill>
              <a:latin typeface="Calibri"/>
              <a:ea typeface="Calibri"/>
              <a:cs typeface="Calibri"/>
              <a:sym typeface="Calibri"/>
            </a:endParaRPr>
          </a:p>
        </p:txBody>
      </p:sp>
      <p:sp>
        <p:nvSpPr>
          <p:cNvPr id="209" name="Google Shape;209;p9"/>
          <p:cNvSpPr/>
          <p:nvPr/>
        </p:nvSpPr>
        <p:spPr>
          <a:xfrm>
            <a:off x="10515600" y="365760"/>
            <a:ext cx="12161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6B6D4"/>
              </a:buClr>
              <a:buSzPts val="1200"/>
              <a:buFont typeface="Courier New"/>
              <a:buNone/>
            </a:pPr>
            <a:r>
              <a:rPr b="1" i="0" lang="en-US" sz="1200" u="none" cap="none" strike="noStrike">
                <a:solidFill>
                  <a:srgbClr val="06B6D4"/>
                </a:solidFill>
                <a:latin typeface="Courier New"/>
                <a:ea typeface="Courier New"/>
                <a:cs typeface="Courier New"/>
                <a:sym typeface="Courier New"/>
              </a:rPr>
              <a:t>06 / 10</a:t>
            </a:r>
            <a:endParaRPr b="0" i="0" sz="1200" u="none" cap="none" strike="noStrike">
              <a:solidFill>
                <a:schemeClr val="dk1"/>
              </a:solidFill>
              <a:latin typeface="Calibri"/>
              <a:ea typeface="Calibri"/>
              <a:cs typeface="Calibri"/>
              <a:sym typeface="Calibri"/>
            </a:endParaRPr>
          </a:p>
        </p:txBody>
      </p:sp>
      <p:sp>
        <p:nvSpPr>
          <p:cNvPr id="210" name="Google Shape;210;p9"/>
          <p:cNvSpPr/>
          <p:nvPr/>
        </p:nvSpPr>
        <p:spPr>
          <a:xfrm>
            <a:off x="6400800" y="2011680"/>
            <a:ext cx="5029200" cy="2011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9E0B"/>
              </a:buClr>
              <a:buSzPts val="10000"/>
              <a:buFont typeface="Arial"/>
              <a:buNone/>
            </a:pPr>
            <a:r>
              <a:rPr b="1" i="0" lang="en-US" sz="10000" u="none" cap="none" strike="noStrike">
                <a:solidFill>
                  <a:srgbClr val="F59E0B"/>
                </a:solidFill>
                <a:latin typeface="Arial"/>
                <a:ea typeface="Arial"/>
                <a:cs typeface="Arial"/>
                <a:sym typeface="Arial"/>
              </a:rPr>
              <a:t>83.32%</a:t>
            </a:r>
            <a:endParaRPr b="0" i="0" sz="10000" u="none" cap="none" strike="noStrike">
              <a:solidFill>
                <a:schemeClr val="dk1"/>
              </a:solidFill>
              <a:latin typeface="Calibri"/>
              <a:ea typeface="Calibri"/>
              <a:cs typeface="Calibri"/>
              <a:sym typeface="Calibri"/>
            </a:endParaRPr>
          </a:p>
        </p:txBody>
      </p:sp>
      <p:sp>
        <p:nvSpPr>
          <p:cNvPr id="211" name="Google Shape;211;p9"/>
          <p:cNvSpPr/>
          <p:nvPr/>
        </p:nvSpPr>
        <p:spPr>
          <a:xfrm>
            <a:off x="6400800" y="4183841"/>
            <a:ext cx="5029200" cy="91439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1" i="0" lang="en-US" sz="2000" u="none" cap="none" strike="noStrike">
                <a:solidFill>
                  <a:srgbClr val="FFFFFF"/>
                </a:solidFill>
                <a:latin typeface="Arial"/>
                <a:ea typeface="Arial"/>
                <a:cs typeface="Arial"/>
                <a:sym typeface="Arial"/>
              </a:rPr>
              <a:t>רמת דיוק המודל (Accuracy Score)</a:t>
            </a:r>
            <a:br>
              <a:rPr b="1" i="0" lang="en-US" sz="2000" u="none" cap="none" strike="noStrike">
                <a:solidFill>
                  <a:srgbClr val="FFFFFF"/>
                </a:solidFill>
                <a:latin typeface="Arial"/>
                <a:ea typeface="Arial"/>
                <a:cs typeface="Arial"/>
                <a:sym typeface="Arial"/>
              </a:rPr>
            </a:br>
            <a:r>
              <a:rPr b="1" i="0" lang="en-US" sz="2000" u="none" cap="none" strike="noStrike">
                <a:solidFill>
                  <a:srgbClr val="FFFFFF"/>
                </a:solidFill>
                <a:latin typeface="Arial"/>
                <a:ea typeface="Arial"/>
                <a:cs typeface="Arial"/>
                <a:sym typeface="Arial"/>
              </a:rPr>
              <a:t>Stratified Repeated K-Fold Random Forest</a:t>
            </a:r>
            <a:endParaRPr b="0" i="0" sz="2000" u="none" cap="none" strike="noStrike">
              <a:solidFill>
                <a:schemeClr val="dk1"/>
              </a:solidFill>
              <a:latin typeface="Calibri"/>
              <a:ea typeface="Calibri"/>
              <a:cs typeface="Calibri"/>
              <a:sym typeface="Calibri"/>
            </a:endParaRPr>
          </a:p>
        </p:txBody>
      </p:sp>
      <p:sp>
        <p:nvSpPr>
          <p:cNvPr id="212" name="Google Shape;212;p9"/>
          <p:cNvSpPr/>
          <p:nvPr/>
        </p:nvSpPr>
        <p:spPr>
          <a:xfrm>
            <a:off x="914400" y="2560328"/>
            <a:ext cx="5029200" cy="1143900"/>
          </a:xfrm>
          <a:prstGeom prst="rect">
            <a:avLst/>
          </a:prstGeom>
          <a:noFill/>
          <a:ln>
            <a:noFill/>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06B6D4"/>
              </a:buClr>
              <a:buSzPts val="2200"/>
              <a:buFont typeface="Arial"/>
              <a:buNone/>
            </a:pPr>
            <a:r>
              <a:rPr b="1" i="0" lang="en-US" sz="2200" u="none" cap="none" strike="noStrike">
                <a:solidFill>
                  <a:srgbClr val="06B6D4"/>
                </a:solidFill>
                <a:latin typeface="Arial"/>
                <a:ea typeface="Arial"/>
                <a:cs typeface="Arial"/>
                <a:sym typeface="Arial"/>
              </a:rPr>
              <a:t>דיוק ראשוני - Logistic Regression - </a:t>
            </a:r>
            <a:br>
              <a:rPr b="1" i="0" lang="en-US" sz="2200" u="none" cap="none" strike="noStrike">
                <a:solidFill>
                  <a:srgbClr val="06B6D4"/>
                </a:solidFill>
                <a:latin typeface="Arial"/>
                <a:ea typeface="Arial"/>
                <a:cs typeface="Arial"/>
                <a:sym typeface="Arial"/>
              </a:rPr>
            </a:br>
            <a:r>
              <a:rPr b="1" i="0" lang="en-US" sz="2200" u="none" cap="none" strike="noStrike">
                <a:solidFill>
                  <a:srgbClr val="06B6D4"/>
                </a:solidFill>
                <a:latin typeface="Arial"/>
                <a:ea typeface="Arial"/>
                <a:cs typeface="Arial"/>
                <a:sym typeface="Arial"/>
              </a:rPr>
              <a:t>היה 81.36%</a:t>
            </a:r>
            <a:endParaRPr b="0" i="0" sz="2200" u="none" cap="none" strike="noStrike">
              <a:solidFill>
                <a:schemeClr val="dk1"/>
              </a:solidFill>
              <a:latin typeface="Calibri"/>
              <a:ea typeface="Calibri"/>
              <a:cs typeface="Calibri"/>
              <a:sym typeface="Calibri"/>
            </a:endParaRPr>
          </a:p>
        </p:txBody>
      </p:sp>
      <p:sp>
        <p:nvSpPr>
          <p:cNvPr id="213" name="Google Shape;213;p9"/>
          <p:cNvSpPr/>
          <p:nvPr/>
        </p:nvSpPr>
        <p:spPr>
          <a:xfrm>
            <a:off x="914400" y="3474720"/>
            <a:ext cx="5029200" cy="1828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CBD5E1"/>
              </a:buClr>
              <a:buSzPts val="1600"/>
              <a:buFont typeface="Arial"/>
              <a:buNone/>
            </a:pPr>
            <a:r>
              <a:rPr b="0" i="0" lang="en-US" sz="2000" u="none" cap="none" strike="noStrike">
                <a:solidFill>
                  <a:srgbClr val="CBD5E1"/>
                </a:solidFill>
                <a:latin typeface="Arial"/>
                <a:ea typeface="Arial"/>
                <a:cs typeface="Arial"/>
                <a:sym typeface="Arial"/>
              </a:rPr>
              <a:t>שיפור ביציבות החיזוי של המערכת לאחר מיזוג המשתנים החדשים</a:t>
            </a:r>
            <a:r>
              <a:rPr b="0" i="0" lang="en-US" sz="1600" u="none" cap="none" strike="noStrike">
                <a:solidFill>
                  <a:srgbClr val="CBD5E1"/>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214" name="Google Shape;214;p9"/>
          <p:cNvSpPr/>
          <p:nvPr/>
        </p:nvSpPr>
        <p:spPr>
          <a:xfrm>
            <a:off x="457200" y="6035040"/>
            <a:ext cx="54864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4748B"/>
              </a:buClr>
              <a:buSzPts val="900"/>
              <a:buFont typeface="Arial"/>
              <a:buNone/>
            </a:pPr>
            <a:r>
              <a:rPr b="0" i="0" lang="en-US" sz="900" u="none" cap="none" strike="noStrike">
                <a:solidFill>
                  <a:srgbClr val="64748B"/>
                </a:solidFill>
                <a:latin typeface="Arial"/>
                <a:ea typeface="Arial"/>
                <a:cs typeface="Arial"/>
                <a:sym typeface="Arial"/>
              </a:rPr>
              <a:t>מערכת חיזוי וניתוח נתוני עתק</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9" name="Shape 219"/>
        <p:cNvGrpSpPr/>
        <p:nvPr/>
      </p:nvGrpSpPr>
      <p:grpSpPr>
        <a:xfrm>
          <a:off x="0" y="0"/>
          <a:ext cx="0" cy="0"/>
          <a:chOff x="0" y="0"/>
          <a:chExt cx="0" cy="0"/>
        </a:xfrm>
      </p:grpSpPr>
      <p:sp>
        <p:nvSpPr>
          <p:cNvPr id="220" name="Google Shape;220;p10"/>
          <p:cNvSpPr/>
          <p:nvPr/>
        </p:nvSpPr>
        <p:spPr>
          <a:xfrm>
            <a:off x="0" y="6492240"/>
            <a:ext cx="12188952" cy="91440"/>
          </a:xfrm>
          <a:prstGeom prst="rect">
            <a:avLst/>
          </a:pr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10"/>
          <p:cNvSpPr/>
          <p:nvPr/>
        </p:nvSpPr>
        <p:spPr>
          <a:xfrm>
            <a:off x="457200" y="457200"/>
            <a:ext cx="9601200" cy="914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חשיבות התוצר</a:t>
            </a:r>
            <a:endParaRPr b="0" i="0" sz="2800" u="none" cap="none" strike="noStrike">
              <a:solidFill>
                <a:schemeClr val="dk1"/>
              </a:solidFill>
              <a:latin typeface="Calibri"/>
              <a:ea typeface="Calibri"/>
              <a:cs typeface="Calibri"/>
              <a:sym typeface="Calibri"/>
            </a:endParaRPr>
          </a:p>
        </p:txBody>
      </p:sp>
      <p:sp>
        <p:nvSpPr>
          <p:cNvPr id="222" name="Google Shape;222;p10"/>
          <p:cNvSpPr/>
          <p:nvPr/>
        </p:nvSpPr>
        <p:spPr>
          <a:xfrm>
            <a:off x="457200" y="228600"/>
            <a:ext cx="96012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59E0B"/>
              </a:buClr>
              <a:buSzPts val="1100"/>
              <a:buFont typeface="Arial"/>
              <a:buNone/>
            </a:pPr>
            <a:r>
              <a:rPr b="1" i="0" lang="en-US" sz="1100" u="none" cap="none" strike="noStrike">
                <a:solidFill>
                  <a:srgbClr val="F59E0B"/>
                </a:solidFill>
                <a:latin typeface="Arial"/>
                <a:ea typeface="Arial"/>
                <a:cs typeface="Arial"/>
                <a:sym typeface="Arial"/>
              </a:rPr>
              <a:t>תצוגת המוצר</a:t>
            </a:r>
            <a:endParaRPr b="0" i="0" sz="1100" u="none" cap="none" strike="noStrike">
              <a:solidFill>
                <a:schemeClr val="dk1"/>
              </a:solidFill>
              <a:latin typeface="Calibri"/>
              <a:ea typeface="Calibri"/>
              <a:cs typeface="Calibri"/>
              <a:sym typeface="Calibri"/>
            </a:endParaRPr>
          </a:p>
        </p:txBody>
      </p:sp>
      <p:sp>
        <p:nvSpPr>
          <p:cNvPr id="223" name="Google Shape;223;p10"/>
          <p:cNvSpPr/>
          <p:nvPr/>
        </p:nvSpPr>
        <p:spPr>
          <a:xfrm>
            <a:off x="10515600" y="365760"/>
            <a:ext cx="12161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6B6D4"/>
              </a:buClr>
              <a:buSzPts val="1200"/>
              <a:buFont typeface="Courier New"/>
              <a:buNone/>
            </a:pPr>
            <a:r>
              <a:rPr b="1" i="0" lang="en-US" sz="1200" u="none" cap="none" strike="noStrike">
                <a:solidFill>
                  <a:srgbClr val="06B6D4"/>
                </a:solidFill>
                <a:latin typeface="Courier New"/>
                <a:ea typeface="Courier New"/>
                <a:cs typeface="Courier New"/>
                <a:sym typeface="Courier New"/>
              </a:rPr>
              <a:t>07 / 10</a:t>
            </a:r>
            <a:endParaRPr b="0" i="0" sz="1200" u="none" cap="none" strike="noStrike">
              <a:solidFill>
                <a:schemeClr val="dk1"/>
              </a:solidFill>
              <a:latin typeface="Calibri"/>
              <a:ea typeface="Calibri"/>
              <a:cs typeface="Calibri"/>
              <a:sym typeface="Calibri"/>
            </a:endParaRPr>
          </a:p>
        </p:txBody>
      </p:sp>
      <p:sp>
        <p:nvSpPr>
          <p:cNvPr id="224" name="Google Shape;224;p10"/>
          <p:cNvSpPr/>
          <p:nvPr/>
        </p:nvSpPr>
        <p:spPr>
          <a:xfrm>
            <a:off x="457200" y="6035040"/>
            <a:ext cx="54864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4748B"/>
              </a:buClr>
              <a:buSzPts val="900"/>
              <a:buFont typeface="Arial"/>
              <a:buNone/>
            </a:pPr>
            <a:r>
              <a:rPr b="0" i="0" lang="en-US" sz="900" u="none" cap="none" strike="noStrike">
                <a:solidFill>
                  <a:srgbClr val="64748B"/>
                </a:solidFill>
                <a:latin typeface="Arial"/>
                <a:ea typeface="Arial"/>
                <a:cs typeface="Arial"/>
                <a:sym typeface="Arial"/>
              </a:rPr>
              <a:t>מערכת חיזוי וניתוח נתוני עתק</a:t>
            </a:r>
            <a:endParaRPr b="0" i="0" sz="900" u="none" cap="none" strike="noStrike">
              <a:solidFill>
                <a:schemeClr val="dk1"/>
              </a:solidFill>
              <a:latin typeface="Calibri"/>
              <a:ea typeface="Calibri"/>
              <a:cs typeface="Calibri"/>
              <a:sym typeface="Calibri"/>
            </a:endParaRPr>
          </a:p>
        </p:txBody>
      </p:sp>
      <p:pic>
        <p:nvPicPr>
          <p:cNvPr id="225" name="Google Shape;225;p10"/>
          <p:cNvPicPr preferRelativeResize="0"/>
          <p:nvPr/>
        </p:nvPicPr>
        <p:blipFill rotWithShape="1">
          <a:blip r:embed="rId3">
            <a:alphaModFix/>
          </a:blip>
          <a:srcRect b="0" l="0" r="0" t="0"/>
          <a:stretch/>
        </p:blipFill>
        <p:spPr>
          <a:xfrm>
            <a:off x="457200" y="1369430"/>
            <a:ext cx="6599868" cy="4665610"/>
          </a:xfrm>
          <a:prstGeom prst="rect">
            <a:avLst/>
          </a:prstGeom>
          <a:noFill/>
          <a:ln>
            <a:noFill/>
          </a:ln>
        </p:spPr>
      </p:pic>
      <p:sp>
        <p:nvSpPr>
          <p:cNvPr id="226" name="Google Shape;226;p10"/>
          <p:cNvSpPr txBox="1"/>
          <p:nvPr/>
        </p:nvSpPr>
        <p:spPr>
          <a:xfrm>
            <a:off x="7134469" y="1121789"/>
            <a:ext cx="4846996" cy="5412828"/>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000000"/>
              </a:buClr>
              <a:buSzPts val="1400"/>
              <a:buFont typeface="Arial"/>
              <a:buNone/>
            </a:pPr>
            <a:r>
              <a:rPr b="1" i="0" lang="en-US" sz="1400" u="sng" cap="none" strike="noStrike">
                <a:solidFill>
                  <a:schemeClr val="lt1"/>
                </a:solidFill>
                <a:latin typeface="Arial"/>
                <a:ea typeface="Arial"/>
                <a:cs typeface="Arial"/>
                <a:sym typeface="Arial"/>
              </a:rPr>
              <a:t> המנבא הדרמטי ביותר – חוסן דמוגרפי (X7_age_60_plus = 38.8%)</a:t>
            </a:r>
            <a:endParaRPr b="1" i="0" sz="1400" u="sng" cap="none" strike="noStrike">
              <a:solidFill>
                <a:schemeClr val="lt1"/>
              </a:solidFill>
              <a:latin typeface="Arial"/>
              <a:ea typeface="Arial"/>
              <a:cs typeface="Arial"/>
              <a:sym typeface="Arial"/>
            </a:endParaRPr>
          </a:p>
          <a:p>
            <a:pPr indent="0" lvl="0" marL="0" marR="0" rtl="1" algn="r">
              <a:lnSpc>
                <a:spcPct val="150000"/>
              </a:lnSpc>
              <a:spcBef>
                <a:spcPts val="800"/>
              </a:spcBef>
              <a:spcAft>
                <a:spcPts val="0"/>
              </a:spcAft>
              <a:buNone/>
            </a:pPr>
            <a:r>
              <a:rPr b="0" i="0" lang="en-US" sz="1400" u="none" cap="none" strike="noStrike">
                <a:solidFill>
                  <a:schemeClr val="lt1"/>
                </a:solidFill>
                <a:latin typeface="Arial"/>
                <a:ea typeface="Arial"/>
                <a:cs typeface="Arial"/>
                <a:sym typeface="Arial"/>
              </a:rPr>
              <a:t>המודל זיהה שמגפת הקורונה פגעה בצורה סלקטיבית ואגרסיבית יותר באוכלוסיות מבוגרות. מדינות עם "חוסן דמוגרפי"  ראו פגיעות מבנית נמוכה יותר.</a:t>
            </a:r>
            <a:endParaRPr b="0" i="0" sz="1400" u="none" cap="none" strike="noStrike">
              <a:solidFill>
                <a:schemeClr val="lt1"/>
              </a:solidFill>
              <a:latin typeface="Arial"/>
              <a:ea typeface="Arial"/>
              <a:cs typeface="Arial"/>
              <a:sym typeface="Arial"/>
            </a:endParaRPr>
          </a:p>
          <a:p>
            <a:pPr indent="0" lvl="0" marL="0" marR="0" rtl="1" algn="r">
              <a:lnSpc>
                <a:spcPct val="150000"/>
              </a:lnSpc>
              <a:spcBef>
                <a:spcPts val="800"/>
              </a:spcBef>
              <a:spcAft>
                <a:spcPts val="0"/>
              </a:spcAft>
              <a:buNone/>
            </a:pPr>
            <a:r>
              <a:rPr b="1" i="0" lang="en-US" sz="1400" u="sng" cap="none" strike="noStrike">
                <a:solidFill>
                  <a:schemeClr val="lt1"/>
                </a:solidFill>
                <a:latin typeface="Arial"/>
                <a:ea typeface="Arial"/>
                <a:cs typeface="Arial"/>
                <a:sym typeface="Arial"/>
              </a:rPr>
              <a:t>כוח אדם רפואי (X2_physicians = 22.6%) </a:t>
            </a:r>
            <a:endParaRPr b="0" i="0" sz="1400" u="sng" cap="none" strike="noStrike">
              <a:solidFill>
                <a:schemeClr val="lt1"/>
              </a:solidFill>
              <a:latin typeface="Arial"/>
              <a:ea typeface="Arial"/>
              <a:cs typeface="Arial"/>
              <a:sym typeface="Arial"/>
            </a:endParaRPr>
          </a:p>
          <a:p>
            <a:pPr indent="0" lvl="0" marL="0" marR="0" rtl="1" algn="r">
              <a:lnSpc>
                <a:spcPct val="150000"/>
              </a:lnSpc>
              <a:spcBef>
                <a:spcPts val="800"/>
              </a:spcBef>
              <a:spcAft>
                <a:spcPts val="0"/>
              </a:spcAft>
              <a:buNone/>
            </a:pPr>
            <a:r>
              <a:rPr b="0" i="0" lang="en-US" sz="1400" u="none" cap="none" strike="noStrike">
                <a:solidFill>
                  <a:schemeClr val="lt1"/>
                </a:solidFill>
                <a:latin typeface="Arial"/>
                <a:ea typeface="Arial"/>
                <a:cs typeface="Arial"/>
                <a:sym typeface="Arial"/>
              </a:rPr>
              <a:t>ממצא זה מדגיש שחוסן מערכת הבריאות נשען קודם כל על </a:t>
            </a:r>
            <a:r>
              <a:rPr b="1" i="0" lang="en-US" sz="1400" u="none" cap="none" strike="noStrike">
                <a:solidFill>
                  <a:schemeClr val="lt1"/>
                </a:solidFill>
                <a:latin typeface="Arial"/>
                <a:ea typeface="Arial"/>
                <a:cs typeface="Arial"/>
                <a:sym typeface="Arial"/>
              </a:rPr>
              <a:t>ההון האנושי הטיפולי</a:t>
            </a:r>
            <a:r>
              <a:rPr b="0" i="0" lang="en-US" sz="1400" u="none" cap="none" strike="noStrike">
                <a:solidFill>
                  <a:schemeClr val="lt1"/>
                </a:solidFill>
                <a:latin typeface="Arial"/>
                <a:ea typeface="Arial"/>
                <a:cs typeface="Arial"/>
                <a:sym typeface="Arial"/>
              </a:rPr>
              <a:t> ופחות על תשתיות פיזיות יבשות (כפי שרואים ש-X1_hospital_beds קיבל רק 0.5%). </a:t>
            </a:r>
            <a:endParaRPr/>
          </a:p>
          <a:p>
            <a:pPr indent="0" lvl="0" marL="0" marR="0" rtl="1" algn="r">
              <a:lnSpc>
                <a:spcPct val="150000"/>
              </a:lnSpc>
              <a:spcBef>
                <a:spcPts val="800"/>
              </a:spcBef>
              <a:spcAft>
                <a:spcPts val="0"/>
              </a:spcAft>
              <a:buNone/>
            </a:pPr>
            <a:r>
              <a:rPr b="1" i="0" lang="en-US" sz="1400" u="sng" cap="none" strike="noStrike">
                <a:solidFill>
                  <a:schemeClr val="lt1"/>
                </a:solidFill>
                <a:latin typeface="Arial"/>
                <a:ea typeface="Arial"/>
                <a:cs typeface="Arial"/>
                <a:sym typeface="Arial"/>
              </a:rPr>
              <a:t>הפתעת המודל – מוכנות טכנולוגית (X6_internet_users = 19.0% </a:t>
            </a:r>
            <a:endParaRPr b="1" i="0" sz="1400" u="sng" cap="none" strike="noStrike">
              <a:solidFill>
                <a:schemeClr val="lt1"/>
              </a:solidFill>
              <a:latin typeface="Arial"/>
              <a:ea typeface="Arial"/>
              <a:cs typeface="Arial"/>
              <a:sym typeface="Arial"/>
            </a:endParaRPr>
          </a:p>
          <a:p>
            <a:pPr indent="0" lvl="0" marL="0" marR="0" rtl="1" algn="r">
              <a:lnSpc>
                <a:spcPct val="150000"/>
              </a:lnSpc>
              <a:spcBef>
                <a:spcPts val="800"/>
              </a:spcBef>
              <a:spcAft>
                <a:spcPts val="0"/>
              </a:spcAft>
              <a:buNone/>
            </a:pPr>
            <a:r>
              <a:rPr b="0" i="0" lang="en-US" sz="1400" u="none" cap="none" strike="noStrike">
                <a:solidFill>
                  <a:schemeClr val="lt1"/>
                </a:solidFill>
                <a:latin typeface="Arial"/>
                <a:ea typeface="Arial"/>
                <a:cs typeface="Arial"/>
                <a:sym typeface="Arial"/>
              </a:rPr>
              <a:t>המודל מוכיח שטכנולוגיה ותשתית דיגיטלית רחבה הן קריטיות להתמודדות עם מגפה מודרנית. מדינות עם אחוז גבוה של משתמשי אינטרנט יכלו להעביר את המשק והחינוך לעבודה מרחוק (למידה מרחוק/זום), להפיץ הנחיות בריאותיות לציבור בזמן אמת.</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1" name="Shape 231"/>
        <p:cNvGrpSpPr/>
        <p:nvPr/>
      </p:nvGrpSpPr>
      <p:grpSpPr>
        <a:xfrm>
          <a:off x="0" y="0"/>
          <a:ext cx="0" cy="0"/>
          <a:chOff x="0" y="0"/>
          <a:chExt cx="0" cy="0"/>
        </a:xfrm>
      </p:grpSpPr>
      <p:sp>
        <p:nvSpPr>
          <p:cNvPr id="232" name="Google Shape;232;p11"/>
          <p:cNvSpPr/>
          <p:nvPr/>
        </p:nvSpPr>
        <p:spPr>
          <a:xfrm>
            <a:off x="0" y="6492240"/>
            <a:ext cx="12188952" cy="91440"/>
          </a:xfrm>
          <a:prstGeom prst="rect">
            <a:avLst/>
          </a:pr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11"/>
          <p:cNvSpPr/>
          <p:nvPr/>
        </p:nvSpPr>
        <p:spPr>
          <a:xfrm>
            <a:off x="457200" y="457200"/>
            <a:ext cx="9601200" cy="914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יתרונות מרכזיים ואתגרים</a:t>
            </a:r>
            <a:endParaRPr b="0" i="0" sz="2800" u="none" cap="none" strike="noStrike">
              <a:solidFill>
                <a:schemeClr val="dk1"/>
              </a:solidFill>
              <a:latin typeface="Calibri"/>
              <a:ea typeface="Calibri"/>
              <a:cs typeface="Calibri"/>
              <a:sym typeface="Calibri"/>
            </a:endParaRPr>
          </a:p>
        </p:txBody>
      </p:sp>
      <p:sp>
        <p:nvSpPr>
          <p:cNvPr id="234" name="Google Shape;234;p11"/>
          <p:cNvSpPr/>
          <p:nvPr/>
        </p:nvSpPr>
        <p:spPr>
          <a:xfrm>
            <a:off x="457200" y="228600"/>
            <a:ext cx="96012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59E0B"/>
              </a:buClr>
              <a:buSzPts val="1100"/>
              <a:buFont typeface="Arial"/>
              <a:buNone/>
            </a:pPr>
            <a:r>
              <a:rPr b="1" i="0" lang="en-US" sz="1100" u="none" cap="none" strike="noStrike">
                <a:solidFill>
                  <a:srgbClr val="F59E0B"/>
                </a:solidFill>
                <a:latin typeface="Arial"/>
                <a:ea typeface="Arial"/>
                <a:cs typeface="Arial"/>
                <a:sym typeface="Arial"/>
              </a:rPr>
              <a:t>ניתוח מערכתי</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10515600" y="365760"/>
            <a:ext cx="12161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6B6D4"/>
              </a:buClr>
              <a:buSzPts val="1200"/>
              <a:buFont typeface="Courier New"/>
              <a:buNone/>
            </a:pPr>
            <a:r>
              <a:rPr b="1" i="0" lang="en-US" sz="1200" u="none" cap="none" strike="noStrike">
                <a:solidFill>
                  <a:srgbClr val="06B6D4"/>
                </a:solidFill>
                <a:latin typeface="Courier New"/>
                <a:ea typeface="Courier New"/>
                <a:cs typeface="Courier New"/>
                <a:sym typeface="Courier New"/>
              </a:rPr>
              <a:t>08 / 10</a:t>
            </a:r>
            <a:endParaRPr b="0" i="0" sz="1200" u="none" cap="none" strike="noStrike">
              <a:solidFill>
                <a:schemeClr val="dk1"/>
              </a:solidFill>
              <a:latin typeface="Calibri"/>
              <a:ea typeface="Calibri"/>
              <a:cs typeface="Calibri"/>
              <a:sym typeface="Calibri"/>
            </a:endParaRPr>
          </a:p>
        </p:txBody>
      </p:sp>
      <p:sp>
        <p:nvSpPr>
          <p:cNvPr id="236" name="Google Shape;236;p11"/>
          <p:cNvSpPr/>
          <p:nvPr/>
        </p:nvSpPr>
        <p:spPr>
          <a:xfrm>
            <a:off x="6400800" y="1828800"/>
            <a:ext cx="50292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6B6D4"/>
              </a:buClr>
              <a:buSzPts val="1800"/>
              <a:buFont typeface="Arial"/>
              <a:buNone/>
            </a:pPr>
            <a:r>
              <a:rPr b="1" i="0" lang="en-US" sz="1800" u="none" cap="none" strike="noStrike">
                <a:solidFill>
                  <a:srgbClr val="06B6D4"/>
                </a:solidFill>
                <a:latin typeface="Arial"/>
                <a:ea typeface="Arial"/>
                <a:cs typeface="Arial"/>
                <a:sym typeface="Arial"/>
              </a:rPr>
              <a:t>יתרונות מרכזיים</a:t>
            </a:r>
            <a:endParaRPr b="0" i="0" sz="1800" u="none" cap="none" strike="noStrike">
              <a:solidFill>
                <a:schemeClr val="dk1"/>
              </a:solidFill>
              <a:latin typeface="Calibri"/>
              <a:ea typeface="Calibri"/>
              <a:cs typeface="Calibri"/>
              <a:sym typeface="Calibri"/>
            </a:endParaRPr>
          </a:p>
        </p:txBody>
      </p:sp>
      <p:sp>
        <p:nvSpPr>
          <p:cNvPr id="237" name="Google Shape;237;p11"/>
          <p:cNvSpPr/>
          <p:nvPr/>
        </p:nvSpPr>
        <p:spPr>
          <a:xfrm>
            <a:off x="731520" y="1828800"/>
            <a:ext cx="50292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59E0B"/>
              </a:buClr>
              <a:buSzPts val="1800"/>
              <a:buFont typeface="Arial"/>
              <a:buNone/>
            </a:pPr>
            <a:r>
              <a:rPr b="1" i="0" lang="en-US" sz="1800" u="none" cap="none" strike="noStrike">
                <a:solidFill>
                  <a:srgbClr val="F59E0B"/>
                </a:solidFill>
                <a:latin typeface="Arial"/>
                <a:ea typeface="Arial"/>
                <a:cs typeface="Arial"/>
                <a:sym typeface="Arial"/>
              </a:rPr>
              <a:t>אתגרים ומגבלות קיימות</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701040" y="2211832"/>
            <a:ext cx="5212080" cy="3045968"/>
          </a:xfrm>
          <a:prstGeom prst="rect">
            <a:avLst/>
          </a:prstGeom>
          <a:noFill/>
          <a:ln>
            <a:noFill/>
          </a:ln>
        </p:spPr>
        <p:txBody>
          <a:bodyPr anchorCtr="0" anchor="ctr" bIns="45700" lIns="91425" spcFirstLastPara="1" rIns="91425" wrap="square" tIns="45700">
            <a:noAutofit/>
          </a:bodyPr>
          <a:lstStyle/>
          <a:p>
            <a:pPr indent="-285750" lvl="0" marL="285750" marR="0" rtl="1" algn="r">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האתגר:</a:t>
            </a:r>
            <a:r>
              <a:rPr b="0" i="0" lang="en-US" sz="1400" u="none" cap="none" strike="noStrike">
                <a:solidFill>
                  <a:schemeClr val="lt1"/>
                </a:solidFill>
                <a:latin typeface="Arial"/>
                <a:ea typeface="Arial"/>
                <a:cs typeface="Arial"/>
                <a:sym typeface="Arial"/>
              </a:rPr>
              <a:t>  החשש ששימוש במשתני קלט אחוז התמונה בפועל עלול לייצר מודל "נביא" שמנבא את העבר ולא את העתיד</a:t>
            </a:r>
            <a:endParaRPr b="0" i="0" sz="1400" u="none" cap="none" strike="noStrike">
              <a:solidFill>
                <a:schemeClr val="lt1"/>
              </a:solidFill>
              <a:latin typeface="Arial"/>
              <a:ea typeface="Arial"/>
              <a:cs typeface="Arial"/>
              <a:sym typeface="Arial"/>
            </a:endParaRPr>
          </a:p>
          <a:p>
            <a:pPr indent="0" lvl="0" marL="0" marR="0" rtl="1" algn="r">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      הפתרון:</a:t>
            </a:r>
            <a:r>
              <a:rPr b="0" i="0" lang="en-US" sz="1400" u="none" cap="none" strike="noStrike">
                <a:solidFill>
                  <a:schemeClr val="lt1"/>
                </a:solidFill>
                <a:latin typeface="Arial"/>
                <a:ea typeface="Arial"/>
                <a:cs typeface="Arial"/>
                <a:sym typeface="Arial"/>
              </a:rPr>
              <a:t> להפוך את מדדי התוצאה של הקורונה (כמו אחוז תמותה או   </a:t>
            </a:r>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מהירות תגובה) ל</a:t>
            </a:r>
            <a:r>
              <a:rPr b="1" i="0" lang="en-US" sz="1400" u="none" cap="none" strike="noStrike">
                <a:solidFill>
                  <a:schemeClr val="lt1"/>
                </a:solidFill>
                <a:latin typeface="Arial"/>
                <a:ea typeface="Arial"/>
                <a:cs typeface="Arial"/>
                <a:sym typeface="Arial"/>
              </a:rPr>
              <a:t>משתני המטרה (Target / Label)</a:t>
            </a:r>
            <a:endParaRPr b="1" i="0" sz="1400" u="none" cap="none" strike="noStrike">
              <a:solidFill>
                <a:schemeClr val="lt1"/>
              </a:solidFill>
              <a:latin typeface="Arial"/>
              <a:ea typeface="Arial"/>
              <a:cs typeface="Arial"/>
              <a:sym typeface="Arial"/>
            </a:endParaRPr>
          </a:p>
          <a:p>
            <a:pPr indent="-285750" lvl="0" marL="285750" marR="0" rtl="1" algn="r">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האתגר:</a:t>
            </a:r>
            <a:r>
              <a:rPr b="0" i="0" lang="en-US" sz="1400" u="none" cap="none" strike="noStrike">
                <a:solidFill>
                  <a:schemeClr val="lt1"/>
                </a:solidFill>
                <a:latin typeface="Arial"/>
                <a:ea typeface="Arial"/>
                <a:cs typeface="Arial"/>
                <a:sym typeface="Arial"/>
              </a:rPr>
              <a:t> נתוני קורונה (אפידמיולוגיה וחיסונים) נרשמו ברמה </a:t>
            </a:r>
            <a:r>
              <a:rPr b="1" i="0" lang="en-US" sz="1400" u="none" cap="none" strike="noStrike">
                <a:solidFill>
                  <a:schemeClr val="lt1"/>
                </a:solidFill>
                <a:latin typeface="Arial"/>
                <a:ea typeface="Arial"/>
                <a:cs typeface="Arial"/>
                <a:sym typeface="Arial"/>
              </a:rPr>
              <a:t>יומית</a:t>
            </a:r>
            <a:r>
              <a:rPr b="0" i="0" lang="en-US" sz="1400" u="none" cap="none" strike="noStrike">
                <a:solidFill>
                  <a:schemeClr val="lt1"/>
                </a:solidFill>
                <a:latin typeface="Arial"/>
                <a:ea typeface="Arial"/>
                <a:cs typeface="Arial"/>
                <a:sym typeface="Arial"/>
              </a:rPr>
              <a:t>, בעוד שפרופיל מדינה היה </a:t>
            </a:r>
            <a:r>
              <a:rPr b="1" i="0" lang="en-US" sz="1400" u="none" cap="none" strike="noStrike">
                <a:solidFill>
                  <a:schemeClr val="lt1"/>
                </a:solidFill>
                <a:latin typeface="Arial"/>
                <a:ea typeface="Arial"/>
                <a:cs typeface="Arial"/>
                <a:sym typeface="Arial"/>
              </a:rPr>
              <a:t>שנתי. </a:t>
            </a:r>
            <a:endParaRPr/>
          </a:p>
          <a:p>
            <a:pPr indent="0" lvl="0" marL="0" marR="0" rtl="1" algn="r">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      הפתרון:</a:t>
            </a:r>
            <a:r>
              <a:rPr b="0" i="0" lang="en-US" sz="1400" u="none" cap="none" strike="noStrike">
                <a:solidFill>
                  <a:schemeClr val="lt1"/>
                </a:solidFill>
                <a:latin typeface="Arial"/>
                <a:ea typeface="Arial"/>
                <a:cs typeface="Arial"/>
                <a:sym typeface="Arial"/>
              </a:rPr>
              <a:t> לפני הזנת הנתונים למודל, ביצענו אגרגציה, כלומר הפכנו את</a:t>
            </a:r>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הנתונים היומיים לממוצע/ חציון/ ערך מקסימלי לכל מדינה, ואז</a:t>
            </a:r>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יישרנו קו ברמת הlocation_key  </a:t>
            </a:r>
            <a:endParaRPr/>
          </a:p>
          <a:p>
            <a:pPr indent="-285750" lvl="0" marL="285750" marR="0" rtl="1" algn="r">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האתגר: </a:t>
            </a:r>
            <a:r>
              <a:rPr b="0" i="0" lang="en-US" sz="1400" u="none" cap="none" strike="noStrike">
                <a:solidFill>
                  <a:schemeClr val="lt1"/>
                </a:solidFill>
                <a:latin typeface="Arial"/>
                <a:ea typeface="Arial"/>
                <a:cs typeface="Arial"/>
                <a:sym typeface="Arial"/>
              </a:rPr>
              <a:t>ערכים חסרים בנתוני בסיס</a:t>
            </a:r>
            <a:endParaRPr/>
          </a:p>
          <a:p>
            <a:pPr indent="0" lvl="0" marL="0" marR="0" rtl="1" algn="r">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     הפתרון: </a:t>
            </a:r>
            <a:r>
              <a:rPr b="0" i="0" lang="en-US" sz="1400" u="none" cap="none" strike="noStrike">
                <a:solidFill>
                  <a:schemeClr val="lt1"/>
                </a:solidFill>
                <a:latin typeface="Arial"/>
                <a:ea typeface="Arial"/>
                <a:cs typeface="Arial"/>
                <a:sym typeface="Arial"/>
              </a:rPr>
              <a:t>היו מצבים שבחרנו להשמיט ערכים מחוסר רלוונטיות למחקר     </a:t>
            </a:r>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והיו מצבים שבחנו לאכלס עם ערכים שונים</a:t>
            </a:r>
            <a:endParaRPr/>
          </a:p>
        </p:txBody>
      </p:sp>
      <p:sp>
        <p:nvSpPr>
          <p:cNvPr id="239" name="Google Shape;239;p11"/>
          <p:cNvSpPr/>
          <p:nvPr/>
        </p:nvSpPr>
        <p:spPr>
          <a:xfrm>
            <a:off x="457200" y="6035040"/>
            <a:ext cx="54864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4748B"/>
              </a:buClr>
              <a:buSzPts val="900"/>
              <a:buFont typeface="Arial"/>
              <a:buNone/>
            </a:pPr>
            <a:r>
              <a:rPr b="0" i="0" lang="en-US" sz="900" u="none" cap="none" strike="noStrike">
                <a:solidFill>
                  <a:srgbClr val="64748B"/>
                </a:solidFill>
                <a:latin typeface="Arial"/>
                <a:ea typeface="Arial"/>
                <a:cs typeface="Arial"/>
                <a:sym typeface="Arial"/>
              </a:rPr>
              <a:t>מערכת חיזוי וניתוח נתוני עתק</a:t>
            </a:r>
            <a:endParaRPr b="0" i="0" sz="900" u="none" cap="none" strike="noStrike">
              <a:solidFill>
                <a:schemeClr val="dk1"/>
              </a:solidFill>
              <a:latin typeface="Calibri"/>
              <a:ea typeface="Calibri"/>
              <a:cs typeface="Calibri"/>
              <a:sym typeface="Calibri"/>
            </a:endParaRPr>
          </a:p>
        </p:txBody>
      </p:sp>
      <p:sp>
        <p:nvSpPr>
          <p:cNvPr id="240" name="Google Shape;240;p11"/>
          <p:cNvSpPr/>
          <p:nvPr/>
        </p:nvSpPr>
        <p:spPr>
          <a:xfrm>
            <a:off x="6174105" y="2453640"/>
            <a:ext cx="5212080" cy="3204464"/>
          </a:xfrm>
          <a:prstGeom prst="rect">
            <a:avLst/>
          </a:prstGeom>
          <a:noFill/>
          <a:ln>
            <a:noFill/>
          </a:ln>
        </p:spPr>
        <p:txBody>
          <a:bodyPr anchorCtr="0" anchor="ctr" bIns="45700" lIns="91425" spcFirstLastPara="1" rIns="91425" wrap="square" tIns="45700">
            <a:noAutofit/>
          </a:bodyPr>
          <a:lstStyle/>
          <a:p>
            <a:pPr indent="-285750" lvl="0" marL="285750" marR="0" rtl="1" algn="r">
              <a:lnSpc>
                <a:spcPct val="100000"/>
              </a:lnSpc>
              <a:spcBef>
                <a:spcPts val="0"/>
              </a:spcBef>
              <a:spcAft>
                <a:spcPts val="0"/>
              </a:spcAft>
              <a:buClr>
                <a:schemeClr val="lt1"/>
              </a:buClr>
              <a:buSzPts val="1400"/>
              <a:buFont typeface="Noto Sans Symbols"/>
              <a:buChar char="❑"/>
            </a:pPr>
            <a:r>
              <a:rPr b="0" i="0" lang="en-US" sz="1400" u="none" cap="none" strike="noStrike">
                <a:solidFill>
                  <a:schemeClr val="lt1"/>
                </a:solidFill>
                <a:latin typeface="Arial"/>
                <a:ea typeface="Arial"/>
                <a:cs typeface="Arial"/>
                <a:sym typeface="Arial"/>
              </a:rPr>
              <a:t>שימוש בבסיס נתונים טבלאי מפשט את הטיפול ואת יכולת ניתוח הנתונים</a:t>
            </a:r>
            <a:endParaRPr/>
          </a:p>
          <a:p>
            <a:pPr indent="-196850" lvl="0" marL="285750" marR="0" rtl="1" algn="r">
              <a:lnSpc>
                <a:spcPct val="100000"/>
              </a:lnSpc>
              <a:spcBef>
                <a:spcPts val="0"/>
              </a:spcBef>
              <a:spcAft>
                <a:spcPts val="0"/>
              </a:spcAft>
              <a:buClr>
                <a:schemeClr val="lt1"/>
              </a:buClr>
              <a:buSzPts val="1400"/>
              <a:buFont typeface="Noto Sans Symbols"/>
              <a:buNone/>
            </a:pPr>
            <a:r>
              <a:t/>
            </a:r>
            <a:endParaRPr b="1" i="0" sz="1400" u="none" cap="none" strike="noStrike">
              <a:solidFill>
                <a:schemeClr val="lt1"/>
              </a:solidFill>
              <a:latin typeface="Arial"/>
              <a:ea typeface="Arial"/>
              <a:cs typeface="Arial"/>
              <a:sym typeface="Arial"/>
            </a:endParaRPr>
          </a:p>
          <a:p>
            <a:pPr indent="-285750" lvl="0" marL="285750" marR="0" rtl="1" algn="r">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היתרון בשימוש במודל : Linear Regression</a:t>
            </a:r>
            <a:endParaRPr b="1" i="0" sz="1400" u="none" cap="none" strike="noStrike">
              <a:solidFill>
                <a:schemeClr val="lt1"/>
              </a:solidFill>
              <a:latin typeface="Arial"/>
              <a:ea typeface="Arial"/>
              <a:cs typeface="Arial"/>
              <a:sym typeface="Arial"/>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נותן את מדד </a:t>
            </a:r>
            <a:r>
              <a:rPr b="1" i="0" lang="en-US" sz="1400" u="none" cap="none" strike="noStrike">
                <a:solidFill>
                  <a:schemeClr val="lt1"/>
                </a:solidFill>
                <a:latin typeface="Arial"/>
                <a:ea typeface="Arial"/>
                <a:cs typeface="Arial"/>
                <a:sym typeface="Arial"/>
              </a:rPr>
              <a:t>הסבירות. </a:t>
            </a:r>
            <a:r>
              <a:rPr b="0" i="0" lang="en-US" sz="1400" u="none" cap="none" strike="noStrike">
                <a:solidFill>
                  <a:schemeClr val="lt1"/>
                </a:solidFill>
                <a:latin typeface="Arial"/>
                <a:ea typeface="Arial"/>
                <a:cs typeface="Arial"/>
                <a:sym typeface="Arial"/>
              </a:rPr>
              <a:t>המודל מציג מקדם לכל אחד מ-9 המשתנים. </a:t>
            </a:r>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285750" lvl="0" marL="285750" marR="0" rtl="1" algn="r">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היתרון בשימוש במודל :Random Forrest Classifier</a:t>
            </a:r>
            <a:endParaRPr b="1" i="0" sz="1400" u="none" cap="none" strike="noStrike">
              <a:solidFill>
                <a:schemeClr val="lt1"/>
              </a:solidFill>
              <a:latin typeface="Arial"/>
              <a:ea typeface="Arial"/>
              <a:cs typeface="Arial"/>
              <a:sym typeface="Arial"/>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לרוב נותן </a:t>
            </a:r>
            <a:r>
              <a:rPr b="1" i="0" lang="en-US" sz="1400" u="none" cap="none" strike="noStrike">
                <a:solidFill>
                  <a:schemeClr val="lt1"/>
                </a:solidFill>
                <a:latin typeface="Arial"/>
                <a:ea typeface="Arial"/>
                <a:cs typeface="Arial"/>
                <a:sym typeface="Arial"/>
              </a:rPr>
              <a:t>דיוק חיזוי (Accuracy/F1-Score) גבוה יותר</a:t>
            </a:r>
            <a:r>
              <a:rPr b="0" i="0" lang="en-US" sz="1400" u="none" cap="none" strike="noStrike">
                <a:solidFill>
                  <a:schemeClr val="lt1"/>
                </a:solidFill>
                <a:latin typeface="Arial"/>
                <a:ea typeface="Arial"/>
                <a:cs typeface="Arial"/>
                <a:sym typeface="Arial"/>
              </a:rPr>
              <a:t>  </a:t>
            </a:r>
            <a:endParaRPr/>
          </a:p>
          <a:p>
            <a:pPr indent="0" lvl="0" marL="0" marR="0" rtl="1"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מהרגרסיה הלוגיסטית.</a:t>
            </a:r>
            <a:endParaRPr/>
          </a:p>
          <a:p>
            <a:pPr indent="0" lvl="0" marL="0" marR="0" rtl="1" algn="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196850" lvl="0" marL="285750" marR="0" rtl="1" algn="r">
              <a:lnSpc>
                <a:spcPct val="100000"/>
              </a:lnSpc>
              <a:spcBef>
                <a:spcPts val="0"/>
              </a:spcBef>
              <a:spcAft>
                <a:spcPts val="0"/>
              </a:spcAft>
              <a:buClr>
                <a:schemeClr val="lt1"/>
              </a:buClr>
              <a:buSzPts val="1400"/>
              <a:buFont typeface="Noto Sans Symbols"/>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image.png" id="245" name="Google Shape;245;p12"/>
          <p:cNvPicPr preferRelativeResize="0"/>
          <p:nvPr/>
        </p:nvPicPr>
        <p:blipFill rotWithShape="1">
          <a:blip r:embed="rId3">
            <a:alphaModFix/>
          </a:blip>
          <a:srcRect b="0" l="0" r="0" t="0"/>
          <a:stretch/>
        </p:blipFill>
        <p:spPr>
          <a:xfrm>
            <a:off x="0" y="0"/>
            <a:ext cx="12188826" cy="6856214"/>
          </a:xfrm>
          <a:prstGeom prst="rect">
            <a:avLst/>
          </a:prstGeom>
          <a:noFill/>
          <a:ln>
            <a:noFill/>
          </a:ln>
        </p:spPr>
      </p:pic>
      <p:pic>
        <p:nvPicPr>
          <p:cNvPr descr="image.png" id="246" name="Google Shape;246;p12"/>
          <p:cNvPicPr preferRelativeResize="0"/>
          <p:nvPr/>
        </p:nvPicPr>
        <p:blipFill rotWithShape="1">
          <a:blip r:embed="rId4">
            <a:alphaModFix/>
          </a:blip>
          <a:srcRect b="0" l="0" r="0" t="0"/>
          <a:stretch/>
        </p:blipFill>
        <p:spPr>
          <a:xfrm>
            <a:off x="8125982" y="2964209"/>
            <a:ext cx="3491491" cy="2300580"/>
          </a:xfrm>
          <a:prstGeom prst="rect">
            <a:avLst/>
          </a:prstGeom>
          <a:noFill/>
          <a:ln>
            <a:noFill/>
          </a:ln>
        </p:spPr>
      </p:pic>
      <p:pic>
        <p:nvPicPr>
          <p:cNvPr descr="image.png" id="247" name="Google Shape;247;p12"/>
          <p:cNvPicPr preferRelativeResize="0"/>
          <p:nvPr/>
        </p:nvPicPr>
        <p:blipFill rotWithShape="1">
          <a:blip r:embed="rId5">
            <a:alphaModFix/>
          </a:blip>
          <a:srcRect b="0" l="0" r="0" t="0"/>
          <a:stretch/>
        </p:blipFill>
        <p:spPr>
          <a:xfrm>
            <a:off x="4348666" y="2964209"/>
            <a:ext cx="3491639" cy="2300580"/>
          </a:xfrm>
          <a:prstGeom prst="rect">
            <a:avLst/>
          </a:prstGeom>
          <a:noFill/>
          <a:ln>
            <a:noFill/>
          </a:ln>
        </p:spPr>
      </p:pic>
      <p:pic>
        <p:nvPicPr>
          <p:cNvPr descr="image.png" id="248" name="Google Shape;248;p12"/>
          <p:cNvPicPr preferRelativeResize="0"/>
          <p:nvPr/>
        </p:nvPicPr>
        <p:blipFill rotWithShape="1">
          <a:blip r:embed="rId6">
            <a:alphaModFix/>
          </a:blip>
          <a:srcRect b="0" l="0" r="0" t="0"/>
          <a:stretch/>
        </p:blipFill>
        <p:spPr>
          <a:xfrm>
            <a:off x="571499" y="2964209"/>
            <a:ext cx="3491491" cy="2300580"/>
          </a:xfrm>
          <a:prstGeom prst="rect">
            <a:avLst/>
          </a:prstGeom>
          <a:noFill/>
          <a:ln>
            <a:noFill/>
          </a:ln>
        </p:spPr>
      </p:pic>
      <p:sp>
        <p:nvSpPr>
          <p:cNvPr id="249" name="Google Shape;249;p12"/>
          <p:cNvSpPr/>
          <p:nvPr/>
        </p:nvSpPr>
        <p:spPr>
          <a:xfrm>
            <a:off x="0" y="6781800"/>
            <a:ext cx="12188700" cy="76200"/>
          </a:xfrm>
          <a:prstGeom prst="rect">
            <a:avLst/>
          </a:prstGeom>
          <a:solidFill>
            <a:srgbClr val="F39C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2"/>
          <p:cNvSpPr txBox="1"/>
          <p:nvPr/>
        </p:nvSpPr>
        <p:spPr>
          <a:xfrm>
            <a:off x="19045" y="647700"/>
            <a:ext cx="11598600" cy="4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850" u="none" cap="none" strike="noStrike">
                <a:solidFill>
                  <a:srgbClr val="FFFFFF"/>
                </a:solidFill>
                <a:latin typeface="Assistant"/>
                <a:ea typeface="Assistant"/>
                <a:cs typeface="Assistant"/>
                <a:sym typeface="Assistant"/>
              </a:rPr>
              <a:t>הצעד הבא - הדרך להטמעה</a:t>
            </a:r>
            <a:endParaRPr/>
          </a:p>
        </p:txBody>
      </p:sp>
      <p:sp>
        <p:nvSpPr>
          <p:cNvPr id="251" name="Google Shape;251;p12"/>
          <p:cNvSpPr txBox="1"/>
          <p:nvPr/>
        </p:nvSpPr>
        <p:spPr>
          <a:xfrm>
            <a:off x="10579519" y="381000"/>
            <a:ext cx="10380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F39C12"/>
                </a:solidFill>
                <a:latin typeface="Assistant"/>
                <a:ea typeface="Assistant"/>
                <a:cs typeface="Assistant"/>
                <a:sym typeface="Assistant"/>
              </a:rPr>
              <a:t>תוכנית עבודה</a:t>
            </a:r>
            <a:endParaRPr/>
          </a:p>
        </p:txBody>
      </p:sp>
      <p:sp>
        <p:nvSpPr>
          <p:cNvPr id="252" name="Google Shape;252;p12"/>
          <p:cNvSpPr txBox="1"/>
          <p:nvPr/>
        </p:nvSpPr>
        <p:spPr>
          <a:xfrm>
            <a:off x="571351" y="390525"/>
            <a:ext cx="7200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0D2FF"/>
                </a:solidFill>
                <a:latin typeface="Arial"/>
                <a:ea typeface="Arial"/>
                <a:cs typeface="Arial"/>
                <a:sym typeface="Arial"/>
              </a:rPr>
              <a:t>09 / 10</a:t>
            </a:r>
            <a:endParaRPr/>
          </a:p>
        </p:txBody>
      </p:sp>
      <p:sp>
        <p:nvSpPr>
          <p:cNvPr id="253" name="Google Shape;253;p12"/>
          <p:cNvSpPr txBox="1"/>
          <p:nvPr/>
        </p:nvSpPr>
        <p:spPr>
          <a:xfrm>
            <a:off x="4527958" y="6229350"/>
            <a:ext cx="3132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FFFFFF"/>
                </a:solidFill>
                <a:latin typeface="Assistant"/>
                <a:ea typeface="Assistant"/>
                <a:cs typeface="Assistant"/>
                <a:sym typeface="Assistant"/>
              </a:rPr>
              <a:t>פרויקט גמר - למידת מכונה וניתוח נתוני עתק | תוכנית עבודה</a:t>
            </a:r>
            <a:endParaRPr/>
          </a:p>
        </p:txBody>
      </p:sp>
      <p:pic>
        <p:nvPicPr>
          <p:cNvPr descr="image.png" id="254" name="Google Shape;254;p12"/>
          <p:cNvPicPr preferRelativeResize="0"/>
          <p:nvPr/>
        </p:nvPicPr>
        <p:blipFill rotWithShape="1">
          <a:blip r:embed="rId7">
            <a:alphaModFix/>
          </a:blip>
          <a:srcRect b="0" l="0" r="0" t="0"/>
          <a:stretch/>
        </p:blipFill>
        <p:spPr>
          <a:xfrm>
            <a:off x="11112780" y="2316509"/>
            <a:ext cx="228540" cy="228600"/>
          </a:xfrm>
          <a:prstGeom prst="rect">
            <a:avLst/>
          </a:prstGeom>
          <a:noFill/>
          <a:ln>
            <a:noFill/>
          </a:ln>
        </p:spPr>
      </p:pic>
      <p:sp>
        <p:nvSpPr>
          <p:cNvPr id="255" name="Google Shape;255;p12"/>
          <p:cNvSpPr txBox="1"/>
          <p:nvPr/>
        </p:nvSpPr>
        <p:spPr>
          <a:xfrm>
            <a:off x="5903962" y="2297459"/>
            <a:ext cx="53193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FFFFF"/>
                </a:solidFill>
                <a:latin typeface="Assistant"/>
                <a:ea typeface="Assistant"/>
                <a:cs typeface="Assistant"/>
                <a:sym typeface="Assistant"/>
              </a:rPr>
              <a:t>האם מוכן להטמעה? לא בשלב הנוכחי, נדרשים הצעדים הבאים:</a:t>
            </a:r>
            <a:endParaRPr/>
          </a:p>
        </p:txBody>
      </p:sp>
      <p:sp>
        <p:nvSpPr>
          <p:cNvPr id="256" name="Google Shape;256;p12"/>
          <p:cNvSpPr txBox="1"/>
          <p:nvPr/>
        </p:nvSpPr>
        <p:spPr>
          <a:xfrm>
            <a:off x="8373568" y="3983384"/>
            <a:ext cx="2996100" cy="5889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1500" u="none" cap="none" strike="noStrike">
                <a:solidFill>
                  <a:srgbClr val="CBD5E1"/>
                </a:solidFill>
                <a:latin typeface="Assistant"/>
                <a:ea typeface="Assistant"/>
                <a:cs typeface="Assistant"/>
                <a:sym typeface="Assistant"/>
              </a:rPr>
              <a:t>בדיקת המדדים במודל רפואי, בדיקה על מידע חדש (לדוגמא: אבולה) וניתוח טעויות.</a:t>
            </a:r>
            <a:endParaRPr/>
          </a:p>
        </p:txBody>
      </p:sp>
      <p:sp>
        <p:nvSpPr>
          <p:cNvPr id="257" name="Google Shape;257;p12"/>
          <p:cNvSpPr txBox="1"/>
          <p:nvPr/>
        </p:nvSpPr>
        <p:spPr>
          <a:xfrm>
            <a:off x="4596252" y="4084290"/>
            <a:ext cx="2996400" cy="946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1500" u="none" cap="none" strike="noStrike">
                <a:solidFill>
                  <a:srgbClr val="CBD5E1"/>
                </a:solidFill>
                <a:latin typeface="Assistant"/>
                <a:ea typeface="Assistant"/>
                <a:cs typeface="Assistant"/>
                <a:sym typeface="Assistant"/>
              </a:rPr>
              <a:t>ניהול שוטף של הקוד כולל גרסאות, איסוף נתוני אמת תקופתיים, הגדרת לוגיקת הניטור ואימון מחדש.</a:t>
            </a:r>
            <a:endParaRPr/>
          </a:p>
        </p:txBody>
      </p:sp>
      <p:sp>
        <p:nvSpPr>
          <p:cNvPr id="258" name="Google Shape;258;p12"/>
          <p:cNvSpPr txBox="1"/>
          <p:nvPr/>
        </p:nvSpPr>
        <p:spPr>
          <a:xfrm>
            <a:off x="819085" y="4084290"/>
            <a:ext cx="2996100" cy="2310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1500" u="none" cap="none" strike="noStrike">
                <a:solidFill>
                  <a:srgbClr val="CBD5E1"/>
                </a:solidFill>
                <a:latin typeface="Assistant"/>
                <a:ea typeface="Assistant"/>
                <a:cs typeface="Assistant"/>
                <a:sym typeface="Assistant"/>
              </a:rPr>
              <a:t>תיקוף לגבי ערכים חסרים.</a:t>
            </a:r>
            <a:endParaRPr/>
          </a:p>
        </p:txBody>
      </p:sp>
      <p:pic>
        <p:nvPicPr>
          <p:cNvPr descr="image.png" id="259" name="Google Shape;259;p12"/>
          <p:cNvPicPr preferRelativeResize="0"/>
          <p:nvPr/>
        </p:nvPicPr>
        <p:blipFill rotWithShape="1">
          <a:blip r:embed="rId8">
            <a:alphaModFix/>
          </a:blip>
          <a:srcRect b="0" l="0" r="0" t="0"/>
          <a:stretch/>
        </p:blipFill>
        <p:spPr>
          <a:xfrm>
            <a:off x="8373568" y="3373784"/>
            <a:ext cx="599919" cy="266631"/>
          </a:xfrm>
          <a:prstGeom prst="rect">
            <a:avLst/>
          </a:prstGeom>
          <a:noFill/>
          <a:ln>
            <a:noFill/>
          </a:ln>
        </p:spPr>
      </p:pic>
      <p:pic>
        <p:nvPicPr>
          <p:cNvPr descr="image.png" id="260" name="Google Shape;260;p12"/>
          <p:cNvPicPr preferRelativeResize="0"/>
          <p:nvPr/>
        </p:nvPicPr>
        <p:blipFill rotWithShape="1">
          <a:blip r:embed="rId9">
            <a:alphaModFix/>
          </a:blip>
          <a:srcRect b="0" l="0" r="0" t="0"/>
          <a:stretch/>
        </p:blipFill>
        <p:spPr>
          <a:xfrm>
            <a:off x="4596252" y="3338512"/>
            <a:ext cx="576856" cy="438150"/>
          </a:xfrm>
          <a:prstGeom prst="rect">
            <a:avLst/>
          </a:prstGeom>
          <a:noFill/>
          <a:ln>
            <a:noFill/>
          </a:ln>
        </p:spPr>
      </p:pic>
      <p:pic>
        <p:nvPicPr>
          <p:cNvPr descr="image.png" id="261" name="Google Shape;261;p12"/>
          <p:cNvPicPr preferRelativeResize="0"/>
          <p:nvPr/>
        </p:nvPicPr>
        <p:blipFill rotWithShape="1">
          <a:blip r:embed="rId10">
            <a:alphaModFix/>
          </a:blip>
          <a:srcRect b="0" l="0" r="0" t="0"/>
          <a:stretch/>
        </p:blipFill>
        <p:spPr>
          <a:xfrm>
            <a:off x="819085" y="3338512"/>
            <a:ext cx="592925" cy="438036"/>
          </a:xfrm>
          <a:prstGeom prst="rect">
            <a:avLst/>
          </a:prstGeom>
          <a:noFill/>
          <a:ln>
            <a:noFill/>
          </a:ln>
        </p:spPr>
      </p:pic>
      <p:pic>
        <p:nvPicPr>
          <p:cNvPr descr="image.png" id="262" name="Google Shape;262;p12"/>
          <p:cNvPicPr preferRelativeResize="0"/>
          <p:nvPr/>
        </p:nvPicPr>
        <p:blipFill rotWithShape="1">
          <a:blip r:embed="rId11">
            <a:alphaModFix/>
          </a:blip>
          <a:srcRect b="0" l="0" r="0" t="0"/>
          <a:stretch/>
        </p:blipFill>
        <p:spPr>
          <a:xfrm>
            <a:off x="10950897" y="3297584"/>
            <a:ext cx="418991" cy="419100"/>
          </a:xfrm>
          <a:prstGeom prst="rect">
            <a:avLst/>
          </a:prstGeom>
          <a:noFill/>
          <a:ln>
            <a:noFill/>
          </a:ln>
        </p:spPr>
      </p:pic>
      <p:sp>
        <p:nvSpPr>
          <p:cNvPr id="263" name="Google Shape;263;p12"/>
          <p:cNvSpPr txBox="1"/>
          <p:nvPr/>
        </p:nvSpPr>
        <p:spPr>
          <a:xfrm>
            <a:off x="9113051" y="3377058"/>
            <a:ext cx="1809600" cy="242400"/>
          </a:xfrm>
          <a:prstGeom prst="rect">
            <a:avLst/>
          </a:prstGeom>
          <a:noFill/>
          <a:ln>
            <a:noFill/>
          </a:ln>
        </p:spPr>
        <p:txBody>
          <a:bodyPr anchorCtr="0" anchor="t" bIns="0" lIns="0" spcFirstLastPara="1" rIns="0" wrap="square" tIns="0">
            <a:spAutoFit/>
          </a:bodyPr>
          <a:lstStyle/>
          <a:p>
            <a:pPr indent="0" lvl="0" marL="0" marR="0" rtl="0" algn="l">
              <a:lnSpc>
                <a:spcPct val="129968"/>
              </a:lnSpc>
              <a:spcBef>
                <a:spcPts val="0"/>
              </a:spcBef>
              <a:spcAft>
                <a:spcPts val="0"/>
              </a:spcAft>
              <a:buNone/>
            </a:pPr>
            <a:r>
              <a:rPr b="1" i="0" lang="en-US" sz="1575" u="none" cap="none" strike="noStrike">
                <a:solidFill>
                  <a:srgbClr val="FFFFFF"/>
                </a:solidFill>
                <a:latin typeface="Assistant"/>
                <a:ea typeface="Assistant"/>
                <a:cs typeface="Assistant"/>
                <a:sym typeface="Assistant"/>
              </a:rPr>
              <a:t>תיקוף ומדידת ביצועים:</a:t>
            </a:r>
            <a:endParaRPr/>
          </a:p>
        </p:txBody>
      </p:sp>
      <p:pic>
        <p:nvPicPr>
          <p:cNvPr descr="image.png" id="264" name="Google Shape;264;p12"/>
          <p:cNvPicPr preferRelativeResize="0"/>
          <p:nvPr/>
        </p:nvPicPr>
        <p:blipFill rotWithShape="1">
          <a:blip r:embed="rId12">
            <a:alphaModFix/>
          </a:blip>
          <a:srcRect b="0" l="0" r="0" t="0"/>
          <a:stretch/>
        </p:blipFill>
        <p:spPr>
          <a:xfrm>
            <a:off x="7199620" y="3348037"/>
            <a:ext cx="393101" cy="419100"/>
          </a:xfrm>
          <a:prstGeom prst="rect">
            <a:avLst/>
          </a:prstGeom>
          <a:noFill/>
          <a:ln>
            <a:noFill/>
          </a:ln>
        </p:spPr>
      </p:pic>
      <p:sp>
        <p:nvSpPr>
          <p:cNvPr id="265" name="Google Shape;265;p12"/>
          <p:cNvSpPr txBox="1"/>
          <p:nvPr/>
        </p:nvSpPr>
        <p:spPr>
          <a:xfrm>
            <a:off x="5173108" y="3297584"/>
            <a:ext cx="2007900" cy="557400"/>
          </a:xfrm>
          <a:prstGeom prst="rect">
            <a:avLst/>
          </a:prstGeom>
          <a:noFill/>
          <a:ln>
            <a:noFill/>
          </a:ln>
        </p:spPr>
        <p:txBody>
          <a:bodyPr anchorCtr="0" anchor="t" bIns="0" lIns="0" spcFirstLastPara="1" rIns="0" wrap="square" tIns="0">
            <a:spAutoFit/>
          </a:bodyPr>
          <a:lstStyle/>
          <a:p>
            <a:pPr indent="0" lvl="0" marL="0" marR="0" rtl="0" algn="l">
              <a:lnSpc>
                <a:spcPct val="129968"/>
              </a:lnSpc>
              <a:spcBef>
                <a:spcPts val="0"/>
              </a:spcBef>
              <a:spcAft>
                <a:spcPts val="0"/>
              </a:spcAft>
              <a:buNone/>
            </a:pPr>
            <a:r>
              <a:rPr b="1" i="0" lang="en-US" sz="1575" u="none" cap="none" strike="noStrike">
                <a:solidFill>
                  <a:srgbClr val="FFFFFF"/>
                </a:solidFill>
                <a:latin typeface="Assistant"/>
                <a:ea typeface="Assistant"/>
                <a:cs typeface="Assistant"/>
                <a:sym typeface="Assistant"/>
              </a:rPr>
              <a:t>אריזה, ארכיטקטורה וניטור:</a:t>
            </a:r>
            <a:endParaRPr/>
          </a:p>
        </p:txBody>
      </p:sp>
      <p:pic>
        <p:nvPicPr>
          <p:cNvPr descr="image.png" id="266" name="Google Shape;266;p12"/>
          <p:cNvPicPr preferRelativeResize="0"/>
          <p:nvPr/>
        </p:nvPicPr>
        <p:blipFill rotWithShape="1">
          <a:blip r:embed="rId13">
            <a:alphaModFix/>
          </a:blip>
          <a:srcRect b="0" l="0" r="0" t="0"/>
          <a:stretch/>
        </p:blipFill>
        <p:spPr>
          <a:xfrm>
            <a:off x="3404300" y="3348037"/>
            <a:ext cx="411105" cy="418991"/>
          </a:xfrm>
          <a:prstGeom prst="rect">
            <a:avLst/>
          </a:prstGeom>
          <a:noFill/>
          <a:ln>
            <a:noFill/>
          </a:ln>
        </p:spPr>
      </p:pic>
      <p:sp>
        <p:nvSpPr>
          <p:cNvPr id="267" name="Google Shape;267;p12"/>
          <p:cNvSpPr txBox="1"/>
          <p:nvPr/>
        </p:nvSpPr>
        <p:spPr>
          <a:xfrm>
            <a:off x="1412010" y="3297584"/>
            <a:ext cx="1971900" cy="242400"/>
          </a:xfrm>
          <a:prstGeom prst="rect">
            <a:avLst/>
          </a:prstGeom>
          <a:noFill/>
          <a:ln>
            <a:noFill/>
          </a:ln>
        </p:spPr>
        <p:txBody>
          <a:bodyPr anchorCtr="0" anchor="t" bIns="0" lIns="0" spcFirstLastPara="1" rIns="0" wrap="square" tIns="0">
            <a:spAutoFit/>
          </a:bodyPr>
          <a:lstStyle/>
          <a:p>
            <a:pPr indent="0" lvl="0" marL="0" marR="0" rtl="0" algn="l">
              <a:lnSpc>
                <a:spcPct val="129968"/>
              </a:lnSpc>
              <a:spcBef>
                <a:spcPts val="0"/>
              </a:spcBef>
              <a:spcAft>
                <a:spcPts val="0"/>
              </a:spcAft>
              <a:buNone/>
            </a:pPr>
            <a:r>
              <a:rPr b="1" i="0" lang="en-US" sz="1575" u="none" cap="none" strike="noStrike">
                <a:solidFill>
                  <a:srgbClr val="FFFFFF"/>
                </a:solidFill>
                <a:latin typeface="Assistant"/>
                <a:ea typeface="Assistant"/>
                <a:cs typeface="Assistant"/>
                <a:sym typeface="Assistant"/>
              </a:rPr>
              <a:t>בדיקות אינטגרציה וריצה:</a:t>
            </a:r>
            <a:endParaRPr/>
          </a:p>
        </p:txBody>
      </p:sp>
      <p:pic>
        <p:nvPicPr>
          <p:cNvPr descr="image.png" id="268" name="Google Shape;268;p12"/>
          <p:cNvPicPr preferRelativeResize="0"/>
          <p:nvPr/>
        </p:nvPicPr>
        <p:blipFill rotWithShape="1">
          <a:blip r:embed="rId14">
            <a:alphaModFix/>
          </a:blip>
          <a:srcRect b="0" l="0" r="0" t="0"/>
          <a:stretch/>
        </p:blipFill>
        <p:spPr>
          <a:xfrm>
            <a:off x="11065168" y="3411884"/>
            <a:ext cx="190450" cy="190500"/>
          </a:xfrm>
          <a:prstGeom prst="rect">
            <a:avLst/>
          </a:prstGeom>
          <a:noFill/>
          <a:ln>
            <a:noFill/>
          </a:ln>
        </p:spPr>
      </p:pic>
      <p:pic>
        <p:nvPicPr>
          <p:cNvPr descr="image.png" id="269" name="Google Shape;269;p12"/>
          <p:cNvPicPr preferRelativeResize="0"/>
          <p:nvPr/>
        </p:nvPicPr>
        <p:blipFill rotWithShape="1">
          <a:blip r:embed="rId15">
            <a:alphaModFix/>
          </a:blip>
          <a:srcRect b="0" l="0" r="0" t="0"/>
          <a:stretch/>
        </p:blipFill>
        <p:spPr>
          <a:xfrm>
            <a:off x="7277138" y="3462337"/>
            <a:ext cx="238063" cy="190500"/>
          </a:xfrm>
          <a:prstGeom prst="rect">
            <a:avLst/>
          </a:prstGeom>
          <a:noFill/>
          <a:ln>
            <a:noFill/>
          </a:ln>
        </p:spPr>
      </p:pic>
      <p:pic>
        <p:nvPicPr>
          <p:cNvPr descr="image.png" id="270" name="Google Shape;270;p12"/>
          <p:cNvPicPr preferRelativeResize="0"/>
          <p:nvPr/>
        </p:nvPicPr>
        <p:blipFill rotWithShape="1">
          <a:blip r:embed="rId16">
            <a:alphaModFix/>
          </a:blip>
          <a:srcRect b="0" l="0" r="0" t="0"/>
          <a:stretch/>
        </p:blipFill>
        <p:spPr>
          <a:xfrm>
            <a:off x="3490896" y="3462337"/>
            <a:ext cx="238063" cy="190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5" name="Shape 275"/>
        <p:cNvGrpSpPr/>
        <p:nvPr/>
      </p:nvGrpSpPr>
      <p:grpSpPr>
        <a:xfrm>
          <a:off x="0" y="0"/>
          <a:ext cx="0" cy="0"/>
          <a:chOff x="0" y="0"/>
          <a:chExt cx="0" cy="0"/>
        </a:xfrm>
      </p:grpSpPr>
      <p:sp>
        <p:nvSpPr>
          <p:cNvPr id="276" name="Google Shape;276;p13"/>
          <p:cNvSpPr/>
          <p:nvPr/>
        </p:nvSpPr>
        <p:spPr>
          <a:xfrm>
            <a:off x="0" y="6492240"/>
            <a:ext cx="12188952" cy="91440"/>
          </a:xfrm>
          <a:prstGeom prst="rect">
            <a:avLst/>
          </a:pr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457200" y="457200"/>
            <a:ext cx="9601200" cy="914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סיכום ומסקנות</a:t>
            </a:r>
            <a:endParaRPr b="0" i="0" sz="2800" u="none" cap="none" strike="noStrike">
              <a:solidFill>
                <a:schemeClr val="dk1"/>
              </a:solidFill>
              <a:latin typeface="Calibri"/>
              <a:ea typeface="Calibri"/>
              <a:cs typeface="Calibri"/>
              <a:sym typeface="Calibri"/>
            </a:endParaRPr>
          </a:p>
        </p:txBody>
      </p:sp>
      <p:sp>
        <p:nvSpPr>
          <p:cNvPr id="278" name="Google Shape;278;p13"/>
          <p:cNvSpPr/>
          <p:nvPr/>
        </p:nvSpPr>
        <p:spPr>
          <a:xfrm>
            <a:off x="457200" y="228600"/>
            <a:ext cx="96012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59E0B"/>
              </a:buClr>
              <a:buSzPts val="1100"/>
              <a:buFont typeface="Arial"/>
              <a:buNone/>
            </a:pPr>
            <a:r>
              <a:rPr b="1" i="0" lang="en-US" sz="1100" u="none" cap="none" strike="noStrike">
                <a:solidFill>
                  <a:srgbClr val="F59E0B"/>
                </a:solidFill>
                <a:latin typeface="Arial"/>
                <a:ea typeface="Arial"/>
                <a:cs typeface="Arial"/>
                <a:sym typeface="Arial"/>
              </a:rPr>
              <a:t>סיכום</a:t>
            </a:r>
            <a:endParaRPr b="0" i="0" sz="1100" u="none" cap="none" strike="noStrike">
              <a:solidFill>
                <a:schemeClr val="dk1"/>
              </a:solidFill>
              <a:latin typeface="Calibri"/>
              <a:ea typeface="Calibri"/>
              <a:cs typeface="Calibri"/>
              <a:sym typeface="Calibri"/>
            </a:endParaRPr>
          </a:p>
        </p:txBody>
      </p:sp>
      <p:sp>
        <p:nvSpPr>
          <p:cNvPr id="279" name="Google Shape;279;p13"/>
          <p:cNvSpPr/>
          <p:nvPr/>
        </p:nvSpPr>
        <p:spPr>
          <a:xfrm>
            <a:off x="10515600" y="365760"/>
            <a:ext cx="12161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6B6D4"/>
              </a:buClr>
              <a:buSzPts val="1200"/>
              <a:buFont typeface="Courier New"/>
              <a:buNone/>
            </a:pPr>
            <a:r>
              <a:rPr b="1" i="0" lang="en-US" sz="1200" u="none" cap="none" strike="noStrike">
                <a:solidFill>
                  <a:srgbClr val="06B6D4"/>
                </a:solidFill>
                <a:latin typeface="Courier New"/>
                <a:ea typeface="Courier New"/>
                <a:cs typeface="Courier New"/>
                <a:sym typeface="Courier New"/>
              </a:rPr>
              <a:t>10 / 10</a:t>
            </a:r>
            <a:endParaRPr b="0" i="0" sz="1200" u="none" cap="none" strike="noStrike">
              <a:solidFill>
                <a:schemeClr val="dk1"/>
              </a:solidFill>
              <a:latin typeface="Calibri"/>
              <a:ea typeface="Calibri"/>
              <a:cs typeface="Calibri"/>
              <a:sym typeface="Calibri"/>
            </a:endParaRPr>
          </a:p>
        </p:txBody>
      </p:sp>
      <p:sp>
        <p:nvSpPr>
          <p:cNvPr id="280" name="Google Shape;280;p13"/>
          <p:cNvSpPr/>
          <p:nvPr/>
        </p:nvSpPr>
        <p:spPr>
          <a:xfrm>
            <a:off x="914336" y="1562100"/>
            <a:ext cx="10360152" cy="1569720"/>
          </a:xfrm>
          <a:prstGeom prst="roundRect">
            <a:avLst>
              <a:gd fmla="val 16667" name="adj"/>
            </a:avLst>
          </a:prstGeom>
          <a:solidFill>
            <a:srgbClr val="1E293B"/>
          </a:solidFill>
          <a:ln cap="flat" cmpd="sng" w="254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13"/>
          <p:cNvSpPr/>
          <p:nvPr/>
        </p:nvSpPr>
        <p:spPr>
          <a:xfrm>
            <a:off x="822960" y="1828800"/>
            <a:ext cx="9994392" cy="1143000"/>
          </a:xfrm>
          <a:prstGeom prst="rect">
            <a:avLst/>
          </a:prstGeom>
          <a:noFill/>
          <a:ln>
            <a:noFill/>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None/>
            </a:pPr>
            <a:r>
              <a:rPr b="0" i="1" lang="en-US" sz="1600" u="none" cap="none" strike="noStrike">
                <a:solidFill>
                  <a:schemeClr val="lt1"/>
                </a:solidFill>
                <a:latin typeface="Arial"/>
                <a:ea typeface="Arial"/>
                <a:cs typeface="Arial"/>
                <a:sym typeface="Arial"/>
              </a:rPr>
              <a:t>במסגרת המחקר השווינו בין שני מודלים מרכזיים תחת ארכיטקטורת אימון קשיחה המונעת זליגת נתונים .</a:t>
            </a:r>
            <a:endParaRPr/>
          </a:p>
          <a:p>
            <a:pPr indent="0" lvl="0" marL="0" marR="0" rtl="1" algn="r">
              <a:lnSpc>
                <a:spcPct val="100000"/>
              </a:lnSpc>
              <a:spcBef>
                <a:spcPts val="0"/>
              </a:spcBef>
              <a:spcAft>
                <a:spcPts val="0"/>
              </a:spcAft>
              <a:buNone/>
            </a:pPr>
            <a:r>
              <a:rPr b="0" i="1" lang="en-US" sz="1600" u="none" cap="none" strike="noStrike">
                <a:solidFill>
                  <a:schemeClr val="lt1"/>
                </a:solidFill>
                <a:latin typeface="Arial"/>
                <a:ea typeface="Arial"/>
                <a:cs typeface="Arial"/>
                <a:sym typeface="Arial"/>
              </a:rPr>
              <a:t>מודל היער האקראי (Random Forest) נבחר כמודל הסופי של הפרויקט לאחר שהציג ביצועים עדיפים עם דיוק כללי (Accuracy)  של 83.32% וציון F1-Score של 83.07%, לצד יציבות סטטיסטית גבוהה  (±4.44%)  </a:t>
            </a:r>
            <a:endParaRPr b="0" i="0" sz="1600" u="none" cap="none" strike="noStrike">
              <a:solidFill>
                <a:schemeClr val="lt1"/>
              </a:solidFill>
              <a:latin typeface="Arial"/>
              <a:ea typeface="Arial"/>
              <a:cs typeface="Arial"/>
              <a:sym typeface="Arial"/>
            </a:endParaRPr>
          </a:p>
        </p:txBody>
      </p:sp>
      <p:sp>
        <p:nvSpPr>
          <p:cNvPr id="282" name="Google Shape;282;p13"/>
          <p:cNvSpPr/>
          <p:nvPr/>
        </p:nvSpPr>
        <p:spPr>
          <a:xfrm>
            <a:off x="457200" y="6035040"/>
            <a:ext cx="548640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4748B"/>
              </a:buClr>
              <a:buSzPts val="900"/>
              <a:buFont typeface="Arial"/>
              <a:buNone/>
            </a:pPr>
            <a:r>
              <a:rPr b="0" i="0" lang="en-US" sz="900" u="none" cap="none" strike="noStrike">
                <a:solidFill>
                  <a:srgbClr val="64748B"/>
                </a:solidFill>
                <a:latin typeface="Arial"/>
                <a:ea typeface="Arial"/>
                <a:cs typeface="Arial"/>
                <a:sym typeface="Arial"/>
              </a:rPr>
              <a:t>מערכת חיזוי וניתוח נתוני עתק</a:t>
            </a:r>
            <a:endParaRPr b="0" i="0" sz="900" u="none" cap="none" strike="noStrike">
              <a:solidFill>
                <a:schemeClr val="dk1"/>
              </a:solidFill>
              <a:latin typeface="Calibri"/>
              <a:ea typeface="Calibri"/>
              <a:cs typeface="Calibri"/>
              <a:sym typeface="Calibri"/>
            </a:endParaRPr>
          </a:p>
        </p:txBody>
      </p:sp>
      <p:sp>
        <p:nvSpPr>
          <p:cNvPr id="283" name="Google Shape;283;p13"/>
          <p:cNvSpPr/>
          <p:nvPr/>
        </p:nvSpPr>
        <p:spPr>
          <a:xfrm>
            <a:off x="822960" y="3718560"/>
            <a:ext cx="10360152" cy="1569720"/>
          </a:xfrm>
          <a:prstGeom prst="roundRect">
            <a:avLst>
              <a:gd fmla="val 16667" name="adj"/>
            </a:avLst>
          </a:prstGeom>
          <a:solidFill>
            <a:srgbClr val="1E293B"/>
          </a:solidFill>
          <a:ln cap="flat" cmpd="sng" w="254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731584" y="3985260"/>
            <a:ext cx="9994392" cy="1143000"/>
          </a:xfrm>
          <a:prstGeom prst="rect">
            <a:avLst/>
          </a:prstGeom>
          <a:noFill/>
          <a:ln>
            <a:noFill/>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None/>
            </a:pPr>
            <a:r>
              <a:rPr b="0" i="1" lang="en-US" sz="1600" u="none" cap="none" strike="noStrike">
                <a:solidFill>
                  <a:schemeClr val="lt1"/>
                </a:solidFill>
                <a:latin typeface="Arial"/>
                <a:ea typeface="Arial"/>
                <a:cs typeface="Arial"/>
                <a:sym typeface="Arial"/>
              </a:rPr>
              <a:t>אחד הממצאים המפתיעים והחשובים במחקר הוא החשיבות הנמוכה שיוחסה למספר מיטות האשפוז (X₁ = 0.5%) לעומת החשיבות הגבוהה של כוח האדם הרפואי (X₂ = 22.6%) .</a:t>
            </a:r>
            <a:endParaRPr/>
          </a:p>
          <a:p>
            <a:pPr indent="0" lvl="0" marL="0" marR="0" rtl="1" algn="r">
              <a:lnSpc>
                <a:spcPct val="100000"/>
              </a:lnSpc>
              <a:spcBef>
                <a:spcPts val="0"/>
              </a:spcBef>
              <a:spcAft>
                <a:spcPts val="0"/>
              </a:spcAft>
              <a:buNone/>
            </a:pPr>
            <a:r>
              <a:rPr b="0" i="1" lang="en-US" sz="1600" u="none" cap="none" strike="noStrike">
                <a:solidFill>
                  <a:schemeClr val="lt1"/>
                </a:solidFill>
                <a:latin typeface="Arial"/>
                <a:ea typeface="Arial"/>
                <a:cs typeface="Arial"/>
                <a:sym typeface="Arial"/>
              </a:rPr>
              <a:t>ממצא זה עולה בקנה אחד עם הספרות האפידמיולוגית העדכנית, ומעיד כי במצבי מגפה עולמית, צוואר הבקבוק המרכזי של מערכות הבריאות אינו מחסור בתשתיות פיזיות (הניתנות להקמה מהירה), אלא מחסור חמור בהון אנושי מיומן (רופאים ואחיות) המסוגל להעניק טיפול מציל חיים בזמן אמת</a:t>
            </a:r>
            <a:endParaRPr b="0" i="0" sz="1600" u="none" cap="none" strike="noStrike">
              <a:solidFill>
                <a:schemeClr val="lt1"/>
              </a:solidFill>
              <a:latin typeface="Arial"/>
              <a:ea typeface="Arial"/>
              <a:cs typeface="Arial"/>
              <a:sym typeface="Arial"/>
            </a:endParaRPr>
          </a:p>
          <a:p>
            <a:pPr indent="0" lvl="0" marL="0" marR="0" rtl="1" algn="r">
              <a:lnSpc>
                <a:spcPct val="100000"/>
              </a:lnSpc>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